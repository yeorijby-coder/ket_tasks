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4"/>
  </p:sldMasterIdLst>
  <p:notesMasterIdLst>
    <p:notesMasterId r:id="rId27"/>
  </p:notesMasterIdLst>
  <p:sldIdLst>
    <p:sldId id="272" r:id="rId5"/>
    <p:sldId id="271" r:id="rId6"/>
    <p:sldId id="303" r:id="rId7"/>
    <p:sldId id="273" r:id="rId8"/>
    <p:sldId id="274" r:id="rId9"/>
    <p:sldId id="295" r:id="rId10"/>
    <p:sldId id="279" r:id="rId11"/>
    <p:sldId id="296" r:id="rId12"/>
    <p:sldId id="318" r:id="rId13"/>
    <p:sldId id="312" r:id="rId14"/>
    <p:sldId id="313" r:id="rId15"/>
    <p:sldId id="304" r:id="rId16"/>
    <p:sldId id="328" r:id="rId17"/>
    <p:sldId id="329" r:id="rId18"/>
    <p:sldId id="283" r:id="rId19"/>
    <p:sldId id="319" r:id="rId20"/>
    <p:sldId id="321" r:id="rId21"/>
    <p:sldId id="317" r:id="rId22"/>
    <p:sldId id="330" r:id="rId23"/>
    <p:sldId id="326" r:id="rId24"/>
    <p:sldId id="324" r:id="rId25"/>
    <p:sldId id="325" r:id="rId26"/>
  </p:sldIdLst>
  <p:sldSz cx="9144000" cy="6858000" type="screen4x3"/>
  <p:notesSz cx="6797675" cy="9926638"/>
  <p:custDataLst>
    <p:tags r:id="rId28"/>
  </p:custData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노형선(Hyeongseon Noh) 두산로지스틱스솔루션" initials="노N두" lastIdx="1" clrIdx="0">
    <p:extLst>
      <p:ext uri="{19B8F6BF-5375-455C-9EA6-DF929625EA0E}">
        <p15:presenceInfo xmlns:p15="http://schemas.microsoft.com/office/powerpoint/2012/main" userId="S::hyeongseon.noh@doosan.com::f1ef5f5a-edee-4e91-916f-de91e398cc29" providerId="AD"/>
      </p:ext>
    </p:extLst>
  </p:cmAuthor>
  <p:cmAuthor id="2" name="조아서(Ahseo Cho) 대리 두산로지스틱스솔루션" initials="조C대두" lastIdx="11" clrIdx="1">
    <p:extLst>
      <p:ext uri="{19B8F6BF-5375-455C-9EA6-DF929625EA0E}">
        <p15:presenceInfo xmlns:p15="http://schemas.microsoft.com/office/powerpoint/2012/main" userId="S::ahseo.cho@doosan.com::7cd40288-aa67-4914-9f30-78008ac75a9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C3891"/>
    <a:srgbClr val="FFE7E7"/>
    <a:srgbClr val="019972"/>
    <a:srgbClr val="DAEDEF"/>
    <a:srgbClr val="CCFFFF"/>
    <a:srgbClr val="CCECFF"/>
    <a:srgbClr val="0086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1765" autoAdjust="0"/>
  </p:normalViewPr>
  <p:slideViewPr>
    <p:cSldViewPr snapToGrid="0">
      <p:cViewPr varScale="1">
        <p:scale>
          <a:sx n="102" d="100"/>
          <a:sy n="102" d="100"/>
        </p:scale>
        <p:origin x="1920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notesMaster" Target="notesMasters/notesMaster1.xml"/><Relationship Id="rId28" Type="http://schemas.openxmlformats.org/officeDocument/2006/relationships/tags" Target="tags/tag1.xml"/><Relationship Id="rId29" Type="http://schemas.openxmlformats.org/officeDocument/2006/relationships/commentAuthors" Target="commentAuthors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3033" tIns="46517" rIns="93033" bIns="4651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3033" tIns="46517" rIns="93033" bIns="46517" rtlCol="0"/>
          <a:lstStyle>
            <a:lvl1pPr algn="r">
              <a:defRPr sz="1200"/>
            </a:lvl1pPr>
          </a:lstStyle>
          <a:p>
            <a:fld id="{7DACB4F5-3F1E-4AF7-ABD2-731CABDBB31C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9163" y="744538"/>
            <a:ext cx="4959350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033" tIns="46517" rIns="93033" bIns="4651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vert="horz" lIns="93033" tIns="46517" rIns="93033" bIns="46517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6332"/>
          </a:xfrm>
          <a:prstGeom prst="rect">
            <a:avLst/>
          </a:prstGeom>
        </p:spPr>
        <p:txBody>
          <a:bodyPr vert="horz" lIns="93033" tIns="46517" rIns="93033" bIns="4651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6332"/>
          </a:xfrm>
          <a:prstGeom prst="rect">
            <a:avLst/>
          </a:prstGeom>
        </p:spPr>
        <p:txBody>
          <a:bodyPr vert="horz" lIns="93033" tIns="46517" rIns="93033" bIns="46517" rtlCol="0" anchor="b"/>
          <a:lstStyle>
            <a:lvl1pPr algn="r">
              <a:defRPr sz="1200"/>
            </a:lvl1pPr>
          </a:lstStyle>
          <a:p>
            <a:fld id="{E59DADCA-33C2-4816-8C0F-E4EEC69821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0269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0667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39353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82750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0406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2536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1030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7838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61801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55432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59201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4791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29952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89189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08138-AFB0-EF06-0264-2ED42B551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43671A-2C7F-297E-E925-F1F1DEC188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FDF088-1F8E-62ED-1A2B-DBECC7DEE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5EB615-06D3-6D31-F050-E591CFAC4A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1913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62676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07014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573819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13"/>
          <p:cNvSpPr>
            <a:spLocks noChangeShapeType="1"/>
          </p:cNvSpPr>
          <p:nvPr/>
        </p:nvSpPr>
        <p:spPr bwMode="auto">
          <a:xfrm>
            <a:off x="893885" y="4659313"/>
            <a:ext cx="8001000" cy="0"/>
          </a:xfrm>
          <a:prstGeom prst="line">
            <a:avLst/>
          </a:prstGeom>
          <a:noFill/>
          <a:ln w="28575">
            <a:solidFill>
              <a:srgbClr val="10399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91438" tIns="45718" rIns="91438" bIns="45718" anchor="ctr"/>
          <a:lstStyle/>
          <a:p>
            <a:endParaRPr lang="ko-KR" altLang="en-US"/>
          </a:p>
        </p:txBody>
      </p:sp>
      <p:sp>
        <p:nvSpPr>
          <p:cNvPr id="5" name="Freeform 17"/>
          <p:cNvSpPr>
            <a:spLocks/>
          </p:cNvSpPr>
          <p:nvPr/>
        </p:nvSpPr>
        <p:spPr bwMode="auto">
          <a:xfrm>
            <a:off x="8160728" y="2103438"/>
            <a:ext cx="984738" cy="3622675"/>
          </a:xfrm>
          <a:custGeom>
            <a:avLst/>
            <a:gdLst>
              <a:gd name="T0" fmla="*/ 2147483647 w 661"/>
              <a:gd name="T1" fmla="*/ 0 h 2245"/>
              <a:gd name="T2" fmla="*/ 0 w 661"/>
              <a:gd name="T3" fmla="*/ 2147483647 h 2245"/>
              <a:gd name="T4" fmla="*/ 2147483647 w 661"/>
              <a:gd name="T5" fmla="*/ 2147483647 h 22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661" h="2245">
                <a:moveTo>
                  <a:pt x="661" y="0"/>
                </a:moveTo>
                <a:lnTo>
                  <a:pt x="0" y="2032"/>
                </a:lnTo>
                <a:lnTo>
                  <a:pt x="661" y="2245"/>
                </a:lnTo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28575" cmpd="sng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91438" tIns="45718" rIns="91438" bIns="45718" anchor="ctr"/>
          <a:lstStyle/>
          <a:p>
            <a:endParaRPr lang="ko-KR" altLang="en-US"/>
          </a:p>
        </p:txBody>
      </p:sp>
      <p:sp>
        <p:nvSpPr>
          <p:cNvPr id="6" name="Freeform 18"/>
          <p:cNvSpPr>
            <a:spLocks/>
          </p:cNvSpPr>
          <p:nvPr/>
        </p:nvSpPr>
        <p:spPr bwMode="auto">
          <a:xfrm>
            <a:off x="8200292" y="2182814"/>
            <a:ext cx="943708" cy="3500437"/>
          </a:xfrm>
          <a:custGeom>
            <a:avLst/>
            <a:gdLst>
              <a:gd name="T0" fmla="*/ 2147483647 w 661"/>
              <a:gd name="T1" fmla="*/ 0 h 2245"/>
              <a:gd name="T2" fmla="*/ 0 w 661"/>
              <a:gd name="T3" fmla="*/ 2147483647 h 2245"/>
              <a:gd name="T4" fmla="*/ 2147483647 w 661"/>
              <a:gd name="T5" fmla="*/ 2147483647 h 22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661" h="2245">
                <a:moveTo>
                  <a:pt x="661" y="0"/>
                </a:moveTo>
                <a:lnTo>
                  <a:pt x="0" y="2032"/>
                </a:lnTo>
                <a:lnTo>
                  <a:pt x="661" y="2245"/>
                </a:lnTo>
              </a:path>
            </a:pathLst>
          </a:custGeom>
          <a:solidFill>
            <a:srgbClr val="0083CD"/>
          </a:solidFill>
          <a:ln>
            <a:noFill/>
          </a:ln>
          <a:extLst>
            <a:ext uri="{91240B29-F687-4F45-9708-019B960494DF}">
              <a14:hiddenLine xmlns:a14="http://schemas.microsoft.com/office/drawing/2010/main" w="28575" cmpd="sng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91438" tIns="45718" rIns="91438" bIns="45718" anchor="ctr"/>
          <a:lstStyle/>
          <a:p>
            <a:endParaRPr lang="ko-KR" altLang="en-US"/>
          </a:p>
        </p:txBody>
      </p:sp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892420" y="3313113"/>
            <a:ext cx="6799385" cy="366712"/>
          </a:xfrm>
          <a:ln/>
        </p:spPr>
        <p:txBody>
          <a:bodyPr/>
          <a:lstStyle>
            <a:lvl1pPr>
              <a:defRPr sz="2400">
                <a:solidFill>
                  <a:srgbClr val="10399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altLang="ko-K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93886" y="3819526"/>
            <a:ext cx="6400800" cy="369332"/>
          </a:xfrm>
          <a:ln algn="ctr"/>
        </p:spPr>
        <p:txBody>
          <a:bodyPr/>
          <a:lstStyle>
            <a:lvl1pPr>
              <a:defRPr sz="2400">
                <a:solidFill>
                  <a:srgbClr val="103991"/>
                </a:solidFill>
              </a:defRPr>
            </a:lvl1pPr>
          </a:lstStyle>
          <a:p>
            <a:r>
              <a:rPr lang="ko-KR" altLang="en-US"/>
              <a:t>마스터 부제목 스타일 편집</a:t>
            </a:r>
            <a:endParaRPr lang="en-US" altLang="ko-KR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EFEB549-EF11-4636-0721-06576B0DCD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476672"/>
            <a:ext cx="2228850" cy="40957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A2CC4FD9-648F-6F2F-D49F-AA4AC71CA0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173" y="6556189"/>
            <a:ext cx="1108910" cy="20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2749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0905" y="1711326"/>
            <a:ext cx="8122626" cy="92333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2085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435" y="4406901"/>
            <a:ext cx="7772400" cy="614002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435" y="4099900"/>
            <a:ext cx="7772400" cy="307001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7" indent="0">
              <a:buNone/>
              <a:defRPr sz="1800"/>
            </a:lvl2pPr>
            <a:lvl3pPr marL="914373" indent="0">
              <a:buNone/>
              <a:defRPr sz="1600"/>
            </a:lvl3pPr>
            <a:lvl4pPr marL="1371560" indent="0">
              <a:buNone/>
              <a:defRPr sz="1400"/>
            </a:lvl4pPr>
            <a:lvl5pPr marL="1828747" indent="0">
              <a:buNone/>
              <a:defRPr sz="1400"/>
            </a:lvl5pPr>
            <a:lvl6pPr marL="2285933" indent="0">
              <a:buNone/>
              <a:defRPr sz="1400"/>
            </a:lvl6pPr>
            <a:lvl7pPr marL="2743120" indent="0">
              <a:buNone/>
              <a:defRPr sz="1400"/>
            </a:lvl7pPr>
            <a:lvl8pPr marL="3200307" indent="0">
              <a:buNone/>
              <a:defRPr sz="1400"/>
            </a:lvl8pPr>
            <a:lvl9pPr marL="3657494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0752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0904" y="1711327"/>
            <a:ext cx="3990242" cy="209288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21823" y="1711327"/>
            <a:ext cx="3991708" cy="209288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8301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293046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1" y="1436211"/>
            <a:ext cx="4040066" cy="73866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7" indent="0">
              <a:buNone/>
              <a:defRPr sz="2000" b="1"/>
            </a:lvl2pPr>
            <a:lvl3pPr marL="914373" indent="0">
              <a:buNone/>
              <a:defRPr sz="1800" b="1"/>
            </a:lvl3pPr>
            <a:lvl4pPr marL="1371560" indent="0">
              <a:buNone/>
              <a:defRPr sz="1600" b="1"/>
            </a:lvl4pPr>
            <a:lvl5pPr marL="1828747" indent="0">
              <a:buNone/>
              <a:defRPr sz="1600" b="1"/>
            </a:lvl5pPr>
            <a:lvl6pPr marL="2285933" indent="0">
              <a:buNone/>
              <a:defRPr sz="1600" b="1"/>
            </a:lvl6pPr>
            <a:lvl7pPr marL="2743120" indent="0">
              <a:buNone/>
              <a:defRPr sz="1600" b="1"/>
            </a:lvl7pPr>
            <a:lvl8pPr marL="3200307" indent="0">
              <a:buNone/>
              <a:defRPr sz="1600" b="1"/>
            </a:lvl8pPr>
            <a:lvl9pPr marL="3657494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1" y="2174875"/>
            <a:ext cx="4040066" cy="181588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271" y="1436211"/>
            <a:ext cx="4041531" cy="73866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7" indent="0">
              <a:buNone/>
              <a:defRPr sz="2000" b="1"/>
            </a:lvl2pPr>
            <a:lvl3pPr marL="914373" indent="0">
              <a:buNone/>
              <a:defRPr sz="1800" b="1"/>
            </a:lvl3pPr>
            <a:lvl4pPr marL="1371560" indent="0">
              <a:buNone/>
              <a:defRPr sz="1600" b="1"/>
            </a:lvl4pPr>
            <a:lvl5pPr marL="1828747" indent="0">
              <a:buNone/>
              <a:defRPr sz="1600" b="1"/>
            </a:lvl5pPr>
            <a:lvl6pPr marL="2285933" indent="0">
              <a:buNone/>
              <a:defRPr sz="1600" b="1"/>
            </a:lvl6pPr>
            <a:lvl7pPr marL="2743120" indent="0">
              <a:buNone/>
              <a:defRPr sz="1600" b="1"/>
            </a:lvl7pPr>
            <a:lvl8pPr marL="3200307" indent="0">
              <a:buNone/>
              <a:defRPr sz="1600" b="1"/>
            </a:lvl8pPr>
            <a:lvl9pPr marL="3657494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271" y="2174875"/>
            <a:ext cx="4041531" cy="181588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73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3357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702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1" y="1128100"/>
            <a:ext cx="3008435" cy="30700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538" y="273052"/>
            <a:ext cx="5111262" cy="240065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1" y="1435100"/>
            <a:ext cx="3008435" cy="215444"/>
          </a:xfrm>
        </p:spPr>
        <p:txBody>
          <a:bodyPr/>
          <a:lstStyle>
            <a:lvl1pPr marL="0" indent="0">
              <a:buNone/>
              <a:defRPr sz="1400"/>
            </a:lvl1pPr>
            <a:lvl2pPr marL="457187" indent="0">
              <a:buNone/>
              <a:defRPr sz="1200"/>
            </a:lvl2pPr>
            <a:lvl3pPr marL="914373" indent="0">
              <a:buNone/>
              <a:defRPr sz="1000"/>
            </a:lvl3pPr>
            <a:lvl4pPr marL="1371560" indent="0">
              <a:buNone/>
              <a:defRPr sz="900"/>
            </a:lvl4pPr>
            <a:lvl5pPr marL="1828747" indent="0">
              <a:buNone/>
              <a:defRPr sz="900"/>
            </a:lvl5pPr>
            <a:lvl6pPr marL="2285933" indent="0">
              <a:buNone/>
              <a:defRPr sz="900"/>
            </a:lvl6pPr>
            <a:lvl7pPr marL="2743120" indent="0">
              <a:buNone/>
              <a:defRPr sz="900"/>
            </a:lvl7pPr>
            <a:lvl8pPr marL="3200307" indent="0">
              <a:buNone/>
              <a:defRPr sz="900"/>
            </a:lvl8pPr>
            <a:lvl9pPr marL="3657494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7360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166" y="5060338"/>
            <a:ext cx="5486400" cy="30700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166" y="612777"/>
            <a:ext cx="5486400" cy="984885"/>
          </a:xfrm>
        </p:spPr>
        <p:txBody>
          <a:bodyPr/>
          <a:lstStyle>
            <a:lvl1pPr marL="0" indent="0">
              <a:buNone/>
              <a:defRPr sz="3200"/>
            </a:lvl1pPr>
            <a:lvl2pPr marL="457187" indent="0">
              <a:buNone/>
              <a:defRPr sz="2800"/>
            </a:lvl2pPr>
            <a:lvl3pPr marL="914373" indent="0">
              <a:buNone/>
              <a:defRPr sz="2400"/>
            </a:lvl3pPr>
            <a:lvl4pPr marL="1371560" indent="0">
              <a:buNone/>
              <a:defRPr sz="2000"/>
            </a:lvl4pPr>
            <a:lvl5pPr marL="1828747" indent="0">
              <a:buNone/>
              <a:defRPr sz="2000"/>
            </a:lvl5pPr>
            <a:lvl6pPr marL="2285933" indent="0">
              <a:buNone/>
              <a:defRPr sz="2000"/>
            </a:lvl6pPr>
            <a:lvl7pPr marL="2743120" indent="0">
              <a:buNone/>
              <a:defRPr sz="2000"/>
            </a:lvl7pPr>
            <a:lvl8pPr marL="3200307" indent="0">
              <a:buNone/>
              <a:defRPr sz="2000"/>
            </a:lvl8pPr>
            <a:lvl9pPr marL="3657494" indent="0">
              <a:buNone/>
              <a:defRPr sz="2000"/>
            </a:lvl9pPr>
          </a:lstStyle>
          <a:p>
            <a:pPr lvl="0"/>
            <a:r>
              <a:rPr lang="ko-KR" altLang="en-US" noProof="0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166" y="5367338"/>
            <a:ext cx="5486400" cy="215444"/>
          </a:xfrm>
        </p:spPr>
        <p:txBody>
          <a:bodyPr/>
          <a:lstStyle>
            <a:lvl1pPr marL="0" indent="0">
              <a:buNone/>
              <a:defRPr sz="1400"/>
            </a:lvl1pPr>
            <a:lvl2pPr marL="457187" indent="0">
              <a:buNone/>
              <a:defRPr sz="1200"/>
            </a:lvl2pPr>
            <a:lvl3pPr marL="914373" indent="0">
              <a:buNone/>
              <a:defRPr sz="1000"/>
            </a:lvl3pPr>
            <a:lvl4pPr marL="1371560" indent="0">
              <a:buNone/>
              <a:defRPr sz="900"/>
            </a:lvl4pPr>
            <a:lvl5pPr marL="1828747" indent="0">
              <a:buNone/>
              <a:defRPr sz="900"/>
            </a:lvl5pPr>
            <a:lvl6pPr marL="2285933" indent="0">
              <a:buNone/>
              <a:defRPr sz="900"/>
            </a:lvl6pPr>
            <a:lvl7pPr marL="2743120" indent="0">
              <a:buNone/>
              <a:defRPr sz="900"/>
            </a:lvl7pPr>
            <a:lvl8pPr marL="3200307" indent="0">
              <a:buNone/>
              <a:defRPr sz="900"/>
            </a:lvl8pPr>
            <a:lvl9pPr marL="3657494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0992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951539" y="1711327"/>
            <a:ext cx="1661993" cy="10953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3425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028757" y="360365"/>
            <a:ext cx="584775" cy="244633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519967" y="360365"/>
            <a:ext cx="923330" cy="24463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07663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제목 및 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0905" y="360364"/>
            <a:ext cx="8122626" cy="293046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표 개체 틀 2"/>
          <p:cNvSpPr>
            <a:spLocks noGrp="1"/>
          </p:cNvSpPr>
          <p:nvPr>
            <p:ph type="tbl" idx="1"/>
          </p:nvPr>
        </p:nvSpPr>
        <p:spPr>
          <a:xfrm>
            <a:off x="490905" y="1711326"/>
            <a:ext cx="8122626" cy="184666"/>
          </a:xfrm>
        </p:spPr>
        <p:txBody>
          <a:bodyPr/>
          <a:lstStyle/>
          <a:p>
            <a:pPr lvl="0"/>
            <a:r>
              <a:rPr lang="ko-KR" altLang="en-US" noProof="0"/>
              <a:t>표를 추가하려면 아이콘을 클릭하십시오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4410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13"/>
          <p:cNvSpPr>
            <a:spLocks noChangeShapeType="1"/>
          </p:cNvSpPr>
          <p:nvPr/>
        </p:nvSpPr>
        <p:spPr bwMode="auto">
          <a:xfrm>
            <a:off x="893885" y="4659313"/>
            <a:ext cx="8001000" cy="0"/>
          </a:xfrm>
          <a:prstGeom prst="line">
            <a:avLst/>
          </a:prstGeom>
          <a:noFill/>
          <a:ln w="28575">
            <a:solidFill>
              <a:srgbClr val="10399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algn="ctr" eaLnBrk="1" latinLnBrk="1" hangingPunct="1">
              <a:lnSpc>
                <a:spcPct val="100000"/>
              </a:lnSpc>
              <a:spcBef>
                <a:spcPct val="0"/>
              </a:spcBef>
            </a:pPr>
            <a:endParaRPr kumimoji="1" lang="ko-KR" altLang="en-US" sz="1100">
              <a:solidFill>
                <a:srgbClr val="000000"/>
              </a:solidFill>
              <a:latin typeface="HY태명조" pitchFamily="18" charset="-127"/>
            </a:endParaRPr>
          </a:p>
        </p:txBody>
      </p:sp>
      <p:sp>
        <p:nvSpPr>
          <p:cNvPr id="5" name="Freeform 17"/>
          <p:cNvSpPr>
            <a:spLocks/>
          </p:cNvSpPr>
          <p:nvPr/>
        </p:nvSpPr>
        <p:spPr bwMode="auto">
          <a:xfrm>
            <a:off x="8160728" y="2103438"/>
            <a:ext cx="984738" cy="3622675"/>
          </a:xfrm>
          <a:custGeom>
            <a:avLst/>
            <a:gdLst>
              <a:gd name="T0" fmla="*/ 2147483647 w 661"/>
              <a:gd name="T1" fmla="*/ 0 h 2245"/>
              <a:gd name="T2" fmla="*/ 0 w 661"/>
              <a:gd name="T3" fmla="*/ 2147483647 h 2245"/>
              <a:gd name="T4" fmla="*/ 2147483647 w 661"/>
              <a:gd name="T5" fmla="*/ 2147483647 h 22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661" h="2245">
                <a:moveTo>
                  <a:pt x="661" y="0"/>
                </a:moveTo>
                <a:lnTo>
                  <a:pt x="0" y="2032"/>
                </a:lnTo>
                <a:lnTo>
                  <a:pt x="661" y="2245"/>
                </a:lnTo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28575" cmpd="sng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latinLnBrk="1" hangingPunct="1">
              <a:lnSpc>
                <a:spcPct val="100000"/>
              </a:lnSpc>
              <a:spcBef>
                <a:spcPct val="0"/>
              </a:spcBef>
            </a:pPr>
            <a:endParaRPr kumimoji="1" lang="ko-KR" altLang="en-US" sz="1100">
              <a:solidFill>
                <a:srgbClr val="000000"/>
              </a:solidFill>
              <a:latin typeface="HY태명조" pitchFamily="18" charset="-127"/>
            </a:endParaRPr>
          </a:p>
        </p:txBody>
      </p:sp>
      <p:sp>
        <p:nvSpPr>
          <p:cNvPr id="6" name="Freeform 18"/>
          <p:cNvSpPr>
            <a:spLocks/>
          </p:cNvSpPr>
          <p:nvPr/>
        </p:nvSpPr>
        <p:spPr bwMode="auto">
          <a:xfrm>
            <a:off x="8201758" y="2182814"/>
            <a:ext cx="942242" cy="3500437"/>
          </a:xfrm>
          <a:custGeom>
            <a:avLst/>
            <a:gdLst>
              <a:gd name="T0" fmla="*/ 2147483647 w 661"/>
              <a:gd name="T1" fmla="*/ 0 h 2245"/>
              <a:gd name="T2" fmla="*/ 0 w 661"/>
              <a:gd name="T3" fmla="*/ 2147483647 h 2245"/>
              <a:gd name="T4" fmla="*/ 2147483647 w 661"/>
              <a:gd name="T5" fmla="*/ 2147483647 h 22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661" h="2245">
                <a:moveTo>
                  <a:pt x="661" y="0"/>
                </a:moveTo>
                <a:lnTo>
                  <a:pt x="0" y="2032"/>
                </a:lnTo>
                <a:lnTo>
                  <a:pt x="661" y="2245"/>
                </a:lnTo>
              </a:path>
            </a:pathLst>
          </a:custGeom>
          <a:solidFill>
            <a:srgbClr val="0083CD"/>
          </a:solidFill>
          <a:ln>
            <a:noFill/>
          </a:ln>
          <a:extLst>
            <a:ext uri="{91240B29-F687-4F45-9708-019B960494DF}">
              <a14:hiddenLine xmlns:a14="http://schemas.microsoft.com/office/drawing/2010/main" w="28575" cmpd="sng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latinLnBrk="1" hangingPunct="1">
              <a:lnSpc>
                <a:spcPct val="100000"/>
              </a:lnSpc>
              <a:spcBef>
                <a:spcPct val="0"/>
              </a:spcBef>
            </a:pPr>
            <a:endParaRPr kumimoji="1" lang="ko-KR" altLang="en-US" sz="1100">
              <a:solidFill>
                <a:srgbClr val="000000"/>
              </a:solidFill>
              <a:latin typeface="HY태명조" pitchFamily="18" charset="-127"/>
            </a:endParaRPr>
          </a:p>
        </p:txBody>
      </p:sp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892420" y="3313113"/>
            <a:ext cx="6799385" cy="366712"/>
          </a:xfrm>
          <a:ln/>
        </p:spPr>
        <p:txBody>
          <a:bodyPr/>
          <a:lstStyle>
            <a:lvl1pPr>
              <a:defRPr sz="2400">
                <a:solidFill>
                  <a:srgbClr val="10399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altLang="ko-K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93885" y="3819526"/>
            <a:ext cx="6400800" cy="369332"/>
          </a:xfrm>
          <a:ln algn="ctr"/>
        </p:spPr>
        <p:txBody>
          <a:bodyPr/>
          <a:lstStyle>
            <a:lvl1pPr>
              <a:defRPr sz="2400">
                <a:solidFill>
                  <a:srgbClr val="103991"/>
                </a:solidFill>
              </a:defRPr>
            </a:lvl1pPr>
          </a:lstStyle>
          <a:p>
            <a:r>
              <a:rPr lang="ko-KR" altLang="en-US"/>
              <a:t>마스터 부제목 스타일 편집</a:t>
            </a:r>
            <a:endParaRPr lang="en-US" altLang="ko-KR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19F6735-FCA2-983D-2D5C-205FC6420E0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476672"/>
            <a:ext cx="2228850" cy="40957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7AE05F99-8CA4-3800-C068-81FD5CAFA4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173" y="6556189"/>
            <a:ext cx="1108910" cy="20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2417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0270" y="359887"/>
            <a:ext cx="8124077" cy="293046"/>
          </a:xfrm>
        </p:spPr>
        <p:txBody>
          <a:bodyPr/>
          <a:lstStyle>
            <a:lvl1pPr>
              <a:defRPr>
                <a:latin typeface="+mj-lt"/>
                <a:ea typeface="윤고딕150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502628" y="1711326"/>
            <a:ext cx="8122626" cy="1077218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altLang="ko-K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55827" y="6621464"/>
            <a:ext cx="190500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sz="900" b="0">
                <a:solidFill>
                  <a:srgbClr val="333333"/>
                </a:solidFill>
                <a:latin typeface="+mn-lt"/>
              </a:defRPr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365710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tags" Target="../tags/tag2.xml"/><Relationship Id="rId17" Type="http://schemas.openxmlformats.org/officeDocument/2006/relationships/oleObject" Target="../embeddings/oleObject1.bin"/><Relationship Id="rId18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개체 2" hidden="1"/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7077044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7" imgW="270" imgH="270" progId="TCLayout.ActiveDocument.1">
                  <p:embed/>
                </p:oleObj>
              </mc:Choice>
              <mc:Fallback>
                <p:oleObj name="think-cell Slide" r:id="rId17" imgW="270" imgH="270" progId="TCLayout.ActiveDocument.1">
                  <p:embed/>
                  <p:pic>
                    <p:nvPicPr>
                      <p:cNvPr id="3" name="개체 2" hidden="1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90905" y="360364"/>
            <a:ext cx="8122626" cy="293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ko-KR" altLang="en-US"/>
              <a:t>마스터 제목 스타일 편집</a:t>
            </a:r>
            <a:endParaRPr lang="en-US" altLang="ko-KR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0905" y="1711326"/>
            <a:ext cx="8122626" cy="1108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ko-KR"/>
              <a:t>Normal Text</a:t>
            </a:r>
          </a:p>
          <a:p>
            <a:pPr lvl="0"/>
            <a:endParaRPr lang="en-US" altLang="ko-KR"/>
          </a:p>
          <a:p>
            <a:pPr lvl="1"/>
            <a:r>
              <a:rPr lang="en-US" altLang="ko-KR"/>
              <a:t>First level</a:t>
            </a:r>
          </a:p>
          <a:p>
            <a:pPr lvl="2"/>
            <a:r>
              <a:rPr lang="en-US" altLang="ko-KR"/>
              <a:t>Second level</a:t>
            </a:r>
          </a:p>
          <a:p>
            <a:pPr lvl="3"/>
            <a:r>
              <a:rPr lang="en-US" altLang="ko-KR"/>
              <a:t>Third level</a:t>
            </a:r>
          </a:p>
          <a:p>
            <a:pPr lvl="4"/>
            <a:r>
              <a:rPr lang="en-US" altLang="ko-KR"/>
              <a:t>Fourth level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55827" y="6621464"/>
            <a:ext cx="190500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sz="900" b="0">
                <a:solidFill>
                  <a:srgbClr val="333333"/>
                </a:solidFill>
                <a:latin typeface="+mn-lt"/>
              </a:defRPr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29" name="Line 8"/>
          <p:cNvSpPr>
            <a:spLocks noChangeShapeType="1"/>
          </p:cNvSpPr>
          <p:nvPr/>
        </p:nvSpPr>
        <p:spPr bwMode="auto">
          <a:xfrm>
            <a:off x="490904" y="777875"/>
            <a:ext cx="8469923" cy="0"/>
          </a:xfrm>
          <a:prstGeom prst="line">
            <a:avLst/>
          </a:prstGeom>
          <a:noFill/>
          <a:ln w="19050">
            <a:solidFill>
              <a:srgbClr val="10399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91438" tIns="45718" rIns="91438" bIns="45718" anchor="ctr"/>
          <a:lstStyle/>
          <a:p>
            <a:endParaRPr lang="ko-KR" altLang="en-US"/>
          </a:p>
        </p:txBody>
      </p:sp>
      <p:grpSp>
        <p:nvGrpSpPr>
          <p:cNvPr id="2" name="Group 14"/>
          <p:cNvGrpSpPr>
            <a:grpSpLocks/>
          </p:cNvGrpSpPr>
          <p:nvPr/>
        </p:nvGrpSpPr>
        <p:grpSpPr bwMode="auto">
          <a:xfrm>
            <a:off x="8840666" y="7938"/>
            <a:ext cx="303334" cy="1109662"/>
            <a:chOff x="6033" y="5"/>
            <a:chExt cx="207" cy="699"/>
          </a:xfrm>
        </p:grpSpPr>
        <p:sp>
          <p:nvSpPr>
            <p:cNvPr id="1032" name="Freeform 15"/>
            <p:cNvSpPr>
              <a:spLocks/>
            </p:cNvSpPr>
            <p:nvPr userDrawn="1"/>
          </p:nvSpPr>
          <p:spPr bwMode="auto">
            <a:xfrm>
              <a:off x="6033" y="5"/>
              <a:ext cx="207" cy="699"/>
            </a:xfrm>
            <a:custGeom>
              <a:avLst/>
              <a:gdLst>
                <a:gd name="T0" fmla="*/ 20 w 661"/>
                <a:gd name="T1" fmla="*/ 0 h 2245"/>
                <a:gd name="T2" fmla="*/ 0 w 661"/>
                <a:gd name="T3" fmla="*/ 61 h 2245"/>
                <a:gd name="T4" fmla="*/ 20 w 661"/>
                <a:gd name="T5" fmla="*/ 68 h 2245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661" h="2245">
                  <a:moveTo>
                    <a:pt x="661" y="0"/>
                  </a:moveTo>
                  <a:lnTo>
                    <a:pt x="0" y="2032"/>
                  </a:lnTo>
                  <a:lnTo>
                    <a:pt x="661" y="2245"/>
                  </a:lnTo>
                </a:path>
              </a:pathLst>
            </a:custGeom>
            <a:solidFill>
              <a:srgbClr val="0083C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 cmpd="sng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033" name="Freeform 16"/>
            <p:cNvSpPr>
              <a:spLocks/>
            </p:cNvSpPr>
            <p:nvPr userDrawn="1"/>
          </p:nvSpPr>
          <p:spPr bwMode="auto">
            <a:xfrm>
              <a:off x="6048" y="43"/>
              <a:ext cx="192" cy="651"/>
            </a:xfrm>
            <a:custGeom>
              <a:avLst/>
              <a:gdLst>
                <a:gd name="T0" fmla="*/ 16 w 661"/>
                <a:gd name="T1" fmla="*/ 0 h 2245"/>
                <a:gd name="T2" fmla="*/ 0 w 661"/>
                <a:gd name="T3" fmla="*/ 50 h 2245"/>
                <a:gd name="T4" fmla="*/ 16 w 661"/>
                <a:gd name="T5" fmla="*/ 55 h 2245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661" h="2245">
                  <a:moveTo>
                    <a:pt x="661" y="0"/>
                  </a:moveTo>
                  <a:lnTo>
                    <a:pt x="0" y="2032"/>
                  </a:lnTo>
                  <a:lnTo>
                    <a:pt x="661" y="2245"/>
                  </a:lnTo>
                </a:path>
              </a:pathLst>
            </a:custGeom>
            <a:solidFill>
              <a:srgbClr val="0083C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 cmpd="sng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</p:sldLayoutIdLst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5pPr>
      <a:lvl6pPr marL="457187"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6pPr>
      <a:lvl7pPr marL="914373"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7pPr>
      <a:lvl8pPr marL="1371560"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8pPr>
      <a:lvl9pPr marL="1828747"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9pPr>
    </p:titleStyle>
    <p:bodyStyle>
      <a:lvl1pPr marL="342900" indent="-342900" algn="l" defTabSz="935038" rtl="0" eaLnBrk="1" fontAlgn="base" latinLnBrk="1" hangingPunct="1">
        <a:spcBef>
          <a:spcPct val="0"/>
        </a:spcBef>
        <a:spcAft>
          <a:spcPct val="0"/>
        </a:spcAft>
        <a:defRPr sz="1200">
          <a:solidFill>
            <a:schemeClr val="tx1"/>
          </a:solidFill>
          <a:latin typeface="+mn-lt"/>
          <a:ea typeface="+mn-ea"/>
          <a:cs typeface="+mn-cs"/>
        </a:defRPr>
      </a:lvl1pPr>
      <a:lvl2pPr marL="103188" indent="-101600" algn="l" defTabSz="935038" rtl="0" eaLnBrk="1" fontAlgn="base" latinLnBrk="1" hangingPunct="1">
        <a:spcBef>
          <a:spcPct val="0"/>
        </a:spcBef>
        <a:spcAft>
          <a:spcPct val="0"/>
        </a:spcAft>
        <a:buChar char="•"/>
        <a:defRPr sz="1200">
          <a:solidFill>
            <a:schemeClr val="tx1"/>
          </a:solidFill>
          <a:latin typeface="+mn-lt"/>
          <a:ea typeface="+mn-ea"/>
        </a:defRPr>
      </a:lvl2pPr>
      <a:lvl3pPr marL="207963" indent="-101600" algn="l" defTabSz="935038" rtl="0" eaLnBrk="1" fontAlgn="base" latinLnBrk="1" hangingPunct="1">
        <a:spcBef>
          <a:spcPct val="0"/>
        </a:spcBef>
        <a:spcAft>
          <a:spcPct val="0"/>
        </a:spcAft>
        <a:buChar char="–"/>
        <a:defRPr sz="1200">
          <a:solidFill>
            <a:schemeClr val="tx1"/>
          </a:solidFill>
          <a:latin typeface="+mn-lt"/>
          <a:ea typeface="+mn-ea"/>
        </a:defRPr>
      </a:lvl3pPr>
      <a:lvl4pPr marL="312738" indent="-101600" algn="l" defTabSz="935038" rtl="0" eaLnBrk="1" fontAlgn="base" latinLnBrk="1" hangingPunct="1">
        <a:spcBef>
          <a:spcPct val="0"/>
        </a:spcBef>
        <a:spcAft>
          <a:spcPct val="0"/>
        </a:spcAft>
        <a:buChar char="·"/>
        <a:defRPr sz="1200">
          <a:solidFill>
            <a:schemeClr val="tx1"/>
          </a:solidFill>
          <a:latin typeface="+mn-lt"/>
          <a:ea typeface="+mn-ea"/>
        </a:defRPr>
      </a:lvl4pPr>
      <a:lvl5pPr marL="419100" indent="-96838" algn="l" defTabSz="935038" rtl="0" eaLnBrk="1" fontAlgn="base" latinLnBrk="1" hangingPunct="1">
        <a:spcBef>
          <a:spcPct val="0"/>
        </a:spcBef>
        <a:spcAft>
          <a:spcPct val="0"/>
        </a:spcAft>
        <a:buChar char="›"/>
        <a:defRPr sz="1200">
          <a:solidFill>
            <a:schemeClr val="tx1"/>
          </a:solidFill>
          <a:latin typeface="+mn-lt"/>
          <a:ea typeface="+mn-ea"/>
        </a:defRPr>
      </a:lvl5pPr>
      <a:lvl6pPr marL="877863" indent="-98422" algn="l" defTabSz="936598" rtl="0" eaLnBrk="1" fontAlgn="base" latinLnBrk="1" hangingPunct="1">
        <a:spcBef>
          <a:spcPct val="0"/>
        </a:spcBef>
        <a:spcAft>
          <a:spcPct val="0"/>
        </a:spcAft>
        <a:buChar char="›"/>
        <a:defRPr sz="1200">
          <a:solidFill>
            <a:schemeClr val="tx1"/>
          </a:solidFill>
          <a:latin typeface="+mn-lt"/>
          <a:ea typeface="+mn-ea"/>
        </a:defRPr>
      </a:lvl6pPr>
      <a:lvl7pPr marL="1335049" indent="-98422" algn="l" defTabSz="936598" rtl="0" eaLnBrk="1" fontAlgn="base" latinLnBrk="1" hangingPunct="1">
        <a:spcBef>
          <a:spcPct val="0"/>
        </a:spcBef>
        <a:spcAft>
          <a:spcPct val="0"/>
        </a:spcAft>
        <a:buChar char="›"/>
        <a:defRPr sz="1200">
          <a:solidFill>
            <a:schemeClr val="tx1"/>
          </a:solidFill>
          <a:latin typeface="+mn-lt"/>
          <a:ea typeface="+mn-ea"/>
        </a:defRPr>
      </a:lvl7pPr>
      <a:lvl8pPr marL="1792236" indent="-98422" algn="l" defTabSz="936598" rtl="0" eaLnBrk="1" fontAlgn="base" latinLnBrk="1" hangingPunct="1">
        <a:spcBef>
          <a:spcPct val="0"/>
        </a:spcBef>
        <a:spcAft>
          <a:spcPct val="0"/>
        </a:spcAft>
        <a:buChar char="›"/>
        <a:defRPr sz="1200">
          <a:solidFill>
            <a:schemeClr val="tx1"/>
          </a:solidFill>
          <a:latin typeface="+mn-lt"/>
          <a:ea typeface="+mn-ea"/>
        </a:defRPr>
      </a:lvl8pPr>
      <a:lvl9pPr marL="2249423" indent="-98422" algn="l" defTabSz="936598" rtl="0" eaLnBrk="1" fontAlgn="base" latinLnBrk="1" hangingPunct="1">
        <a:spcBef>
          <a:spcPct val="0"/>
        </a:spcBef>
        <a:spcAft>
          <a:spcPct val="0"/>
        </a:spcAft>
        <a:buChar char="›"/>
        <a:defRPr sz="12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7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3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0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47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33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20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07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94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8">
            <a:extLst>
              <a:ext uri="{FF2B5EF4-FFF2-40B4-BE49-F238E27FC236}">
                <a16:creationId xmlns:a16="http://schemas.microsoft.com/office/drawing/2014/main" id="{B392A8F6-53CD-4997-A22A-96C117AD4F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한국단자 인터페이스 정의서</a:t>
            </a:r>
          </a:p>
        </p:txBody>
      </p:sp>
      <p:sp>
        <p:nvSpPr>
          <p:cNvPr id="10" name="부제목 9">
            <a:extLst>
              <a:ext uri="{FF2B5EF4-FFF2-40B4-BE49-F238E27FC236}">
                <a16:creationId xmlns:a16="http://schemas.microsoft.com/office/drawing/2014/main" id="{095D233C-3E8A-46A3-802C-986F2E37EB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3885" y="3819526"/>
            <a:ext cx="6400800" cy="24622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WCS</a:t>
            </a:r>
            <a:endParaRPr lang="ko-KR" altLang="en-US" sz="1600" dirty="0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1F03A730-4299-4A17-A458-B0B2FACB5437}"/>
              </a:ext>
            </a:extLst>
          </p:cNvPr>
          <p:cNvSpPr txBox="1">
            <a:spLocks/>
          </p:cNvSpPr>
          <p:nvPr/>
        </p:nvSpPr>
        <p:spPr bwMode="auto">
          <a:xfrm>
            <a:off x="968375" y="5359400"/>
            <a:ext cx="6934200" cy="239713"/>
          </a:xfrm>
          <a:prstGeom prst="rect">
            <a:avLst/>
          </a:prstGeom>
          <a:noFill/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marL="342836" indent="-342836" defTabSz="936450">
              <a:lnSpc>
                <a:spcPct val="120000"/>
              </a:lnSpc>
              <a:defRPr/>
            </a:pPr>
            <a:r>
              <a:rPr lang="ko-KR" altLang="en-US" sz="1400" b="0" kern="0">
                <a:solidFill>
                  <a:srgbClr val="0083CD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  <a:sym typeface="Noto Sans CJK KR Regular" panose="020B0500000000000000" pitchFamily="34" charset="-127"/>
              </a:rPr>
              <a:t>두산로지스틱스솔루션</a:t>
            </a:r>
            <a:r>
              <a:rPr lang="en-US" altLang="ko-KR" sz="1400" b="0" kern="0">
                <a:solidFill>
                  <a:srgbClr val="0083CD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  <a:sym typeface="Noto Sans CJK KR Regular" panose="020B0500000000000000" pitchFamily="34" charset="-127"/>
              </a:rPr>
              <a:t>(</a:t>
            </a:r>
            <a:r>
              <a:rPr lang="ko-KR" altLang="en-US" sz="1400" b="0" kern="0">
                <a:solidFill>
                  <a:srgbClr val="0083CD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  <a:sym typeface="Noto Sans CJK KR Regular" panose="020B0500000000000000" pitchFamily="34" charset="-127"/>
              </a:rPr>
              <a:t>주</a:t>
            </a:r>
            <a:r>
              <a:rPr lang="en-US" altLang="ko-KR" sz="1400" b="0" kern="0">
                <a:solidFill>
                  <a:srgbClr val="0083CD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  <a:sym typeface="Noto Sans CJK KR Regular" panose="020B0500000000000000" pitchFamily="34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14483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  <a:sym typeface="Noto Sans CJK KR Medium"/>
              </a:rPr>
              <a:t>▪개정 이력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7721C24-E1F6-4102-9F28-A1C0886C65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1224336"/>
              </p:ext>
            </p:extLst>
          </p:nvPr>
        </p:nvGraphicFramePr>
        <p:xfrm>
          <a:off x="490905" y="881011"/>
          <a:ext cx="8473584" cy="2734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4196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434502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826312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1051670">
                  <a:extLst>
                    <a:ext uri="{9D8B030D-6E8A-4147-A177-3AD203B41FA5}">
                      <a16:colId xmlns:a16="http://schemas.microsoft.com/office/drawing/2014/main" val="628285144"/>
                    </a:ext>
                  </a:extLst>
                </a:gridCol>
                <a:gridCol w="4266904">
                  <a:extLst>
                    <a:ext uri="{9D8B030D-6E8A-4147-A177-3AD203B41FA5}">
                      <a16:colId xmlns:a16="http://schemas.microsoft.com/office/drawing/2014/main" val="1260868553"/>
                    </a:ext>
                  </a:extLst>
                </a:gridCol>
              </a:tblGrid>
              <a:tr h="2387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/>
                        </a:rPr>
                        <a:t>Vers.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/>
                        </a:rPr>
                        <a:t>Date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/>
                        </a:rPr>
                        <a:t>Author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/>
                        </a:rPr>
                        <a:t>Approver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/>
                        </a:rPr>
                        <a:t>Notes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0174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v1.0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2026-07-14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정복열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초안 작성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30174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V1.1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2026-07-20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정복열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인터페이스 항목</a:t>
                      </a:r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(6p) </a:t>
                      </a:r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828724"/>
                  </a:ext>
                </a:extLst>
              </a:tr>
              <a:tr h="301744">
                <a:tc>
                  <a:txBody>
                    <a:bodyPr/>
                    <a:lstStyle/>
                    <a:p>
                      <a:pPr latinLnBrk="1"/>
                      <a:r>
                        <a:t>V1.2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t>2026-08-03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t>정복열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t/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t>원본 프로토콜/소스 대조 : 세 테이블에 WH_TYP 추가, 목차 정정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951880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latinLnBrk="1"/>
                      <a:r>
                        <a:t>V1.3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t>2026-08-03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t>정복열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t/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t>작업대 103 트랙번호 정정, CV_DATA.HOST_STN_NO 도입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218678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9773566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5284501"/>
                  </a:ext>
                </a:extLst>
              </a:tr>
              <a:tr h="166324"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buAutoNum type="arabicPeriod"/>
                      </a:pPr>
                      <a:endParaRPr lang="en-US" altLang="ko-KR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5136713"/>
                  </a:ext>
                </a:extLst>
              </a:tr>
              <a:tr h="166324"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6994638"/>
                  </a:ext>
                </a:extLst>
              </a:tr>
              <a:tr h="166324"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46101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4769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0989CB-A7D4-48A7-AB09-4588ED4F6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▪ </a:t>
            </a:r>
            <a:r>
              <a:rPr lang="ko-KR" altLang="en-US"/>
              <a:t>목차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998FEBB8-5352-4CBC-B538-034A97CBC18A}"/>
              </a:ext>
            </a:extLst>
          </p:cNvPr>
          <p:cNvSpPr>
            <a:spLocks noChangeArrowheads="1"/>
          </p:cNvSpPr>
          <p:nvPr/>
        </p:nvSpPr>
        <p:spPr bwMode="gray">
          <a:xfrm>
            <a:off x="395536" y="980728"/>
            <a:ext cx="5548826" cy="4487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89317" tIns="44658" rIns="89317" bIns="44658">
            <a:spAutoFit/>
          </a:bodyPr>
          <a:lstStyle>
            <a:lvl1pPr marL="609600" indent="-609600" eaLnBrk="0" hangingPunct="0"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1pPr>
            <a:lvl2pPr marL="742950" indent="-285750" eaLnBrk="0" hangingPunct="0"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2pPr>
            <a:lvl3pPr marL="1143000" indent="-228600" eaLnBrk="0" hangingPunct="0"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3pPr>
            <a:lvl4pPr marL="1600200" indent="-228600" eaLnBrk="0" hangingPunct="0"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4pPr>
            <a:lvl5pPr marL="2057400" indent="-228600" eaLnBrk="0" hangingPunct="0"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5pPr>
            <a:lvl6pPr marL="2514600" indent="-228600" algn="ctr" eaLnBrk="0" fontAlgn="base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6pPr>
            <a:lvl7pPr marL="2971800" indent="-228600" algn="ctr" eaLnBrk="0" fontAlgn="base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7pPr>
            <a:lvl8pPr marL="3429000" indent="-228600" algn="ctr" eaLnBrk="0" fontAlgn="base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8pPr>
            <a:lvl9pPr marL="3886200" indent="-228600" algn="ctr" eaLnBrk="0" fontAlgn="base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9pPr>
          </a:lstStyle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en-US" altLang="ko-KR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Interface System</a:t>
            </a:r>
            <a:endParaRPr lang="en-US" altLang="ko-KR" sz="1563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en-US" altLang="ko-KR" sz="1563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Interface </a:t>
            </a:r>
            <a:r>
              <a:rPr lang="ko-KR" altLang="en-US" sz="1563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구조</a:t>
            </a:r>
            <a:endParaRPr lang="en-US" altLang="ko-KR" sz="1563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en-US" altLang="ko-KR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Interface </a:t>
            </a:r>
            <a:r>
              <a:rPr lang="ko-KR" altLang="en-US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항목</a:t>
            </a:r>
            <a:endParaRPr lang="en-US" altLang="ko-KR" sz="1600" dirty="0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en-US" altLang="ko-KR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Interface </a:t>
            </a:r>
            <a:r>
              <a:rPr lang="ko-KR" altLang="en-US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흐름도</a:t>
            </a:r>
            <a:endParaRPr lang="en-US" altLang="ko-KR" sz="1600" dirty="0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ko-KR" altLang="en-US" sz="16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작업대</a:t>
            </a:r>
            <a:r>
              <a:rPr lang="en-US" altLang="ko-KR" sz="16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 </a:t>
            </a:r>
            <a:r>
              <a:rPr lang="ko-KR" altLang="en-US" sz="16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정보</a:t>
            </a:r>
            <a:endParaRPr lang="en-US" altLang="ko-KR" sz="1600" dirty="0">
              <a:solidFill>
                <a:prstClr val="black"/>
              </a:solidFill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en-US" altLang="ko-KR" sz="1600" dirty="0"/>
              <a:t>Interface</a:t>
            </a:r>
            <a:r>
              <a:rPr lang="ko-KR" altLang="en-US" sz="1600" dirty="0"/>
              <a:t>관련</a:t>
            </a:r>
            <a:r>
              <a:rPr lang="en-US" altLang="ko-KR" sz="1600" dirty="0"/>
              <a:t> Table </a:t>
            </a:r>
            <a:r>
              <a:rPr lang="ko-KR" altLang="en-US" sz="1600" dirty="0"/>
              <a:t>목록 및 테이블 상세</a:t>
            </a:r>
            <a:endParaRPr lang="en-US" altLang="ko-KR" sz="1600" dirty="0"/>
          </a:p>
          <a:p>
            <a:pPr marL="419100" lvl="1" defTabSz="893179" eaLnBrk="1" hangingPunct="1">
              <a:lnSpc>
                <a:spcPct val="110000"/>
              </a:lnSpc>
              <a:spcBef>
                <a:spcPct val="50000"/>
              </a:spcBef>
              <a:buFontTx/>
              <a:buChar char="-"/>
            </a:pPr>
            <a:r>
              <a:rPr lang="en-US" altLang="ko-KR" sz="14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6.1	 IF_LUGG_STA</a:t>
            </a:r>
          </a:p>
          <a:p>
            <a:pPr marL="419100" lvl="1" defTabSz="893179" eaLnBrk="1" hangingPunct="1">
              <a:lnSpc>
                <a:spcPct val="110000"/>
              </a:lnSpc>
              <a:spcBef>
                <a:spcPct val="50000"/>
              </a:spcBef>
              <a:buFontTx/>
              <a:buChar char="-"/>
            </a:pPr>
            <a:r>
              <a:rPr lang="en-US" altLang="ko-KR" sz="14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6.2	 IF_MC_STA</a:t>
            </a:r>
          </a:p>
          <a:p>
            <a:pPr marL="419100" lvl="1" defTabSz="893179" eaLnBrk="1" hangingPunct="1">
              <a:lnSpc>
                <a:spcPct val="110000"/>
              </a:lnSpc>
              <a:spcBef>
                <a:spcPct val="50000"/>
              </a:spcBef>
              <a:buFontTx/>
              <a:buChar char="-"/>
            </a:pPr>
            <a:r>
              <a:rPr lang="en-US" altLang="ko-KR" sz="14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6.3	 IF_REQ_MST</a:t>
            </a: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endParaRPr lang="en-US" altLang="ko-KR" sz="1563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endParaRPr lang="en-US" altLang="ko-KR" sz="1563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endParaRPr lang="en-US" altLang="ko-KR" sz="1563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685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1. Interface System</a:t>
            </a:r>
            <a:endParaRPr lang="ko-KR" altLang="en-US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209B8D-5CFF-4565-8184-7872CE56D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9645566"/>
              </p:ext>
            </p:extLst>
          </p:nvPr>
        </p:nvGraphicFramePr>
        <p:xfrm>
          <a:off x="490905" y="908720"/>
          <a:ext cx="8473586" cy="12758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0382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804492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960245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632437">
                  <a:extLst>
                    <a:ext uri="{9D8B030D-6E8A-4147-A177-3AD203B41FA5}">
                      <a16:colId xmlns:a16="http://schemas.microsoft.com/office/drawing/2014/main" val="628285144"/>
                    </a:ext>
                  </a:extLst>
                </a:gridCol>
                <a:gridCol w="676865">
                  <a:extLst>
                    <a:ext uri="{9D8B030D-6E8A-4147-A177-3AD203B41FA5}">
                      <a16:colId xmlns:a16="http://schemas.microsoft.com/office/drawing/2014/main" val="1260868553"/>
                    </a:ext>
                  </a:extLst>
                </a:gridCol>
                <a:gridCol w="906714">
                  <a:extLst>
                    <a:ext uri="{9D8B030D-6E8A-4147-A177-3AD203B41FA5}">
                      <a16:colId xmlns:a16="http://schemas.microsoft.com/office/drawing/2014/main" val="375303653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865518687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796946255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369177829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3435807176"/>
                    </a:ext>
                  </a:extLst>
                </a:gridCol>
                <a:gridCol w="1080123">
                  <a:extLst>
                    <a:ext uri="{9D8B030D-6E8A-4147-A177-3AD203B41FA5}">
                      <a16:colId xmlns:a16="http://schemas.microsoft.com/office/drawing/2014/main" val="1735521363"/>
                    </a:ext>
                  </a:extLst>
                </a:gridCol>
              </a:tblGrid>
              <a:tr h="119382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No.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System</a:t>
                      </a:r>
                      <a:r>
                        <a:rPr lang="ko-KR" altLang="en-US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I/F </a:t>
                      </a:r>
                      <a:r>
                        <a:rPr lang="ko-KR" altLang="en-US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방식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DBMS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Database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User </a:t>
                      </a:r>
                      <a:r>
                        <a:rPr lang="ko-KR" altLang="en-US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정보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Test Server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Production Server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17664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OS  / BIT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IP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OS  / BIT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IP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3053379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1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WCS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DB Connect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PostgreSql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2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WMS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DB Connect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Oracle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307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9930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2. Interface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구조</a:t>
            </a:r>
          </a:p>
        </p:txBody>
      </p:sp>
      <p:sp>
        <p:nvSpPr>
          <p:cNvPr id="32" name="AutoShape 38">
            <a:extLst>
              <a:ext uri="{FF2B5EF4-FFF2-40B4-BE49-F238E27FC236}">
                <a16:creationId xmlns:a16="http://schemas.microsoft.com/office/drawing/2014/main" id="{1F68DDB7-B446-4D17-A289-D34B0F2E8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0511" y="2109812"/>
            <a:ext cx="1357313" cy="1595438"/>
          </a:xfrm>
          <a:prstGeom prst="roundRect">
            <a:avLst>
              <a:gd name="adj" fmla="val 16667"/>
            </a:avLst>
          </a:prstGeom>
          <a:solidFill>
            <a:srgbClr val="CC99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endParaRPr lang="en-US" altLang="ja-JP" sz="100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grpSp>
        <p:nvGrpSpPr>
          <p:cNvPr id="33" name="그룹 3">
            <a:extLst>
              <a:ext uri="{FF2B5EF4-FFF2-40B4-BE49-F238E27FC236}">
                <a16:creationId xmlns:a16="http://schemas.microsoft.com/office/drawing/2014/main" id="{FB530F74-8BE5-4989-B4E6-B4E2EF3CB16E}"/>
              </a:ext>
            </a:extLst>
          </p:cNvPr>
          <p:cNvGrpSpPr>
            <a:grpSpLocks/>
          </p:cNvGrpSpPr>
          <p:nvPr/>
        </p:nvGrpSpPr>
        <p:grpSpPr bwMode="auto">
          <a:xfrm>
            <a:off x="466974" y="865659"/>
            <a:ext cx="5419725" cy="619125"/>
            <a:chOff x="3425825" y="5727710"/>
            <a:chExt cx="5003827" cy="601662"/>
          </a:xfrm>
        </p:grpSpPr>
        <p:sp>
          <p:nvSpPr>
            <p:cNvPr id="34" name="AutoShape 61">
              <a:extLst>
                <a:ext uri="{FF2B5EF4-FFF2-40B4-BE49-F238E27FC236}">
                  <a16:creationId xmlns:a16="http://schemas.microsoft.com/office/drawing/2014/main" id="{0BD4393C-514E-43A0-88FB-4353CC2EBF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44936" y="6025456"/>
              <a:ext cx="145102" cy="237579"/>
            </a:xfrm>
            <a:prstGeom prst="roundRect">
              <a:avLst>
                <a:gd name="adj" fmla="val 16667"/>
              </a:avLst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>
                <a:defRPr/>
              </a:pPr>
              <a:endParaRPr lang="ko-KR" altLang="en-US" sz="900">
                <a:latin typeface="+mn-lt"/>
                <a:ea typeface="MS PGothic" pitchFamily="34" charset="-128"/>
              </a:endParaRPr>
            </a:p>
          </p:txBody>
        </p:sp>
        <p:sp>
          <p:nvSpPr>
            <p:cNvPr id="35" name="Text Box 62">
              <a:extLst>
                <a:ext uri="{FF2B5EF4-FFF2-40B4-BE49-F238E27FC236}">
                  <a16:creationId xmlns:a16="http://schemas.microsoft.com/office/drawing/2014/main" id="{22E9A214-8039-45AE-927D-7DB6D81891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46067" y="6023913"/>
              <a:ext cx="1316179" cy="2375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>
                <a:spcBef>
                  <a:spcPct val="50000"/>
                </a:spcBef>
                <a:defRPr/>
              </a:pPr>
              <a:r>
                <a:rPr lang="en-US" altLang="ja-JP" sz="900">
                  <a:latin typeface="+mn-lt"/>
                </a:rPr>
                <a:t>Other Application</a:t>
              </a:r>
            </a:p>
          </p:txBody>
        </p:sp>
        <p:sp>
          <p:nvSpPr>
            <p:cNvPr id="36" name="AutoShape 65">
              <a:extLst>
                <a:ext uri="{FF2B5EF4-FFF2-40B4-BE49-F238E27FC236}">
                  <a16:creationId xmlns:a16="http://schemas.microsoft.com/office/drawing/2014/main" id="{4C62F5BA-E590-441C-BDD9-D37E4B689B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64047" y="6025456"/>
              <a:ext cx="143637" cy="237579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>
                <a:defRPr/>
              </a:pPr>
              <a:endParaRPr lang="ko-KR" altLang="en-US" sz="900">
                <a:latin typeface="+mn-lt"/>
                <a:ea typeface="MS PGothic" pitchFamily="34" charset="-128"/>
              </a:endParaRPr>
            </a:p>
          </p:txBody>
        </p:sp>
        <p:sp>
          <p:nvSpPr>
            <p:cNvPr id="37" name="Text Box 66">
              <a:extLst>
                <a:ext uri="{FF2B5EF4-FFF2-40B4-BE49-F238E27FC236}">
                  <a16:creationId xmlns:a16="http://schemas.microsoft.com/office/drawing/2014/main" id="{618AD4AC-90DA-4DA9-A13C-6FF51817C3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71041" y="6025456"/>
              <a:ext cx="833972" cy="2375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>
                <a:spcBef>
                  <a:spcPct val="50000"/>
                </a:spcBef>
                <a:buFont typeface="Wingdings" pitchFamily="2" charset="2"/>
                <a:buNone/>
                <a:defRPr/>
              </a:pPr>
              <a:r>
                <a:rPr lang="en-US" altLang="ja-JP" sz="900">
                  <a:latin typeface="+mn-lt"/>
                </a:rPr>
                <a:t>Table</a:t>
              </a:r>
            </a:p>
          </p:txBody>
        </p:sp>
        <p:sp>
          <p:nvSpPr>
            <p:cNvPr id="38" name="AutoShape 68">
              <a:extLst>
                <a:ext uri="{FF2B5EF4-FFF2-40B4-BE49-F238E27FC236}">
                  <a16:creationId xmlns:a16="http://schemas.microsoft.com/office/drawing/2014/main" id="{25905BA8-790C-4E2D-A1AA-D20A0BB37F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28423" y="6023913"/>
              <a:ext cx="143637" cy="239123"/>
            </a:xfrm>
            <a:prstGeom prst="roundRect">
              <a:avLst>
                <a:gd name="adj" fmla="val 16667"/>
              </a:avLst>
            </a:prstGeom>
            <a:solidFill>
              <a:srgbClr val="CC99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>
                <a:defRPr/>
              </a:pPr>
              <a:endParaRPr lang="ko-KR" altLang="en-US" sz="900">
                <a:latin typeface="+mn-lt"/>
                <a:ea typeface="MS PGothic" pitchFamily="34" charset="-128"/>
              </a:endParaRPr>
            </a:p>
          </p:txBody>
        </p:sp>
        <p:sp>
          <p:nvSpPr>
            <p:cNvPr id="39" name="Text Box 69">
              <a:extLst>
                <a:ext uri="{FF2B5EF4-FFF2-40B4-BE49-F238E27FC236}">
                  <a16:creationId xmlns:a16="http://schemas.microsoft.com/office/drawing/2014/main" id="{A639481C-26A0-4912-A1AD-A2BF6699B4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28089" y="6023913"/>
              <a:ext cx="1314713" cy="2375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>
                <a:spcBef>
                  <a:spcPct val="50000"/>
                </a:spcBef>
                <a:buFont typeface="Wingdings" pitchFamily="2" charset="2"/>
                <a:buNone/>
                <a:defRPr/>
              </a:pPr>
              <a:r>
                <a:rPr lang="en-US" altLang="ja-JP" sz="900" err="1">
                  <a:latin typeface="+mn-lt"/>
                </a:rPr>
                <a:t>DataBase</a:t>
              </a:r>
              <a:endParaRPr lang="en-US" altLang="ja-JP" sz="900">
                <a:latin typeface="+mn-lt"/>
              </a:endParaRPr>
            </a:p>
          </p:txBody>
        </p:sp>
        <p:sp>
          <p:nvSpPr>
            <p:cNvPr id="40" name="Rectangle 71">
              <a:extLst>
                <a:ext uri="{FF2B5EF4-FFF2-40B4-BE49-F238E27FC236}">
                  <a16:creationId xmlns:a16="http://schemas.microsoft.com/office/drawing/2014/main" id="{29E19C0F-25F6-4C46-8F7A-323742A5E6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25825" y="5758564"/>
              <a:ext cx="5003827" cy="570808"/>
            </a:xfrm>
            <a:prstGeom prst="rect">
              <a:avLst/>
            </a:prstGeom>
            <a:noFill/>
            <a:ln w="28575" cap="rnd">
              <a:solidFill>
                <a:srgbClr val="000000"/>
              </a:solidFill>
              <a:prstDash val="sysDot"/>
              <a:miter lim="800000"/>
              <a:headEnd/>
              <a:tailEnd/>
            </a:ln>
          </p:spPr>
          <p:txBody>
            <a:bodyPr wrap="none" anchor="ctr"/>
            <a:lstStyle/>
            <a:p>
              <a:pPr algn="ctr">
                <a:defRPr/>
              </a:pPr>
              <a:endParaRPr lang="ko-KR" altLang="en-US">
                <a:latin typeface="+mn-lt"/>
              </a:endParaRPr>
            </a:p>
          </p:txBody>
        </p:sp>
        <p:sp>
          <p:nvSpPr>
            <p:cNvPr id="45" name="Text Box 72">
              <a:extLst>
                <a:ext uri="{FF2B5EF4-FFF2-40B4-BE49-F238E27FC236}">
                  <a16:creationId xmlns:a16="http://schemas.microsoft.com/office/drawing/2014/main" id="{C86CE7BD-63E3-41E9-AA59-992209D2B3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49276" y="5727710"/>
              <a:ext cx="473414" cy="283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Font typeface="Wingdings" pitchFamily="2" charset="2"/>
                <a:buNone/>
                <a:defRPr/>
              </a:pPr>
              <a:r>
                <a:rPr lang="ko-KR" altLang="en-US" sz="1000">
                  <a:effectLst>
                    <a:outerShdw blurRad="38100" dist="38100" dir="2700000" algn="tl">
                      <a:srgbClr val="C0C0C0"/>
                    </a:outerShdw>
                  </a:effectLst>
                  <a:latin typeface="+mn-lt"/>
                  <a:ea typeface="굴림" charset="-127"/>
                </a:rPr>
                <a:t>예시</a:t>
              </a:r>
              <a:endParaRPr lang="ja-JP" altLang="en-US" sz="1000">
                <a:effectLst>
                  <a:outerShdw blurRad="38100" dist="38100" dir="2700000" algn="tl">
                    <a:srgbClr val="C0C0C0"/>
                  </a:outerShdw>
                </a:effectLst>
                <a:latin typeface="+mn-lt"/>
                <a:ea typeface="굴림" charset="-127"/>
              </a:endParaRPr>
            </a:p>
          </p:txBody>
        </p:sp>
      </p:grpSp>
      <p:sp>
        <p:nvSpPr>
          <p:cNvPr id="46" name="Rectangle 33">
            <a:extLst>
              <a:ext uri="{FF2B5EF4-FFF2-40B4-BE49-F238E27FC236}">
                <a16:creationId xmlns:a16="http://schemas.microsoft.com/office/drawing/2014/main" id="{6F4885C4-504B-43DA-9DAC-F8190C2898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974" y="1962175"/>
            <a:ext cx="3573462" cy="2166962"/>
          </a:xfrm>
          <a:prstGeom prst="rect">
            <a:avLst/>
          </a:prstGeom>
          <a:noFill/>
          <a:ln w="28575">
            <a:solidFill>
              <a:srgbClr val="9933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>
              <a:defRPr/>
            </a:pPr>
            <a:endParaRPr lang="ko-KR" altLang="en-US" sz="120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sp>
        <p:nvSpPr>
          <p:cNvPr id="53" name="AutoShape 37">
            <a:extLst>
              <a:ext uri="{FF2B5EF4-FFF2-40B4-BE49-F238E27FC236}">
                <a16:creationId xmlns:a16="http://schemas.microsoft.com/office/drawing/2014/main" id="{8E3A0016-8D72-4BBA-850F-EC45AB4003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33391" y="2225979"/>
            <a:ext cx="728663" cy="5238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10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Interface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10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Task</a:t>
            </a:r>
          </a:p>
        </p:txBody>
      </p:sp>
      <p:sp>
        <p:nvSpPr>
          <p:cNvPr id="55" name="AutoShape 38">
            <a:extLst>
              <a:ext uri="{FF2B5EF4-FFF2-40B4-BE49-F238E27FC236}">
                <a16:creationId xmlns:a16="http://schemas.microsoft.com/office/drawing/2014/main" id="{1EF3562D-3237-4985-A124-1A43DC5B1C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4261" y="2109812"/>
            <a:ext cx="1357313" cy="1595438"/>
          </a:xfrm>
          <a:prstGeom prst="roundRect">
            <a:avLst>
              <a:gd name="adj" fmla="val 16667"/>
            </a:avLst>
          </a:prstGeom>
          <a:solidFill>
            <a:srgbClr val="CC99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endParaRPr lang="en-US" altLang="ja-JP" sz="100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sp>
        <p:nvSpPr>
          <p:cNvPr id="56" name="Text Box 39">
            <a:extLst>
              <a:ext uri="{FF2B5EF4-FFF2-40B4-BE49-F238E27FC236}">
                <a16:creationId xmlns:a16="http://schemas.microsoft.com/office/drawing/2014/main" id="{CD1F6D94-21EA-4097-A8FB-64824B3A0B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1628800"/>
            <a:ext cx="308451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altLang="ko-KR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• </a:t>
            </a:r>
            <a:r>
              <a:rPr lang="en-US" altLang="ja-JP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WMS Server(</a:t>
            </a:r>
            <a:r>
              <a:rPr lang="ko-KR" altLang="en-US" sz="1400" dirty="0" err="1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바이오파마</a:t>
            </a:r>
            <a:r>
              <a:rPr lang="en-US" altLang="ko-KR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, MS-SQL)</a:t>
            </a:r>
            <a:endParaRPr lang="en-US" altLang="ja-JP" sz="1400" dirty="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grpSp>
        <p:nvGrpSpPr>
          <p:cNvPr id="57" name="그룹 95">
            <a:extLst>
              <a:ext uri="{FF2B5EF4-FFF2-40B4-BE49-F238E27FC236}">
                <a16:creationId xmlns:a16="http://schemas.microsoft.com/office/drawing/2014/main" id="{7D214875-033C-4564-9B8B-8C575A56BFA8}"/>
              </a:ext>
            </a:extLst>
          </p:cNvPr>
          <p:cNvGrpSpPr>
            <a:grpSpLocks/>
          </p:cNvGrpSpPr>
          <p:nvPr/>
        </p:nvGrpSpPr>
        <p:grpSpPr bwMode="auto">
          <a:xfrm>
            <a:off x="1882614" y="2229949"/>
            <a:ext cx="781050" cy="495300"/>
            <a:chOff x="1173480" y="2484735"/>
            <a:chExt cx="780733" cy="646013"/>
          </a:xfrm>
        </p:grpSpPr>
        <p:grpSp>
          <p:nvGrpSpPr>
            <p:cNvPr id="58" name="Group 8">
              <a:extLst>
                <a:ext uri="{FF2B5EF4-FFF2-40B4-BE49-F238E27FC236}">
                  <a16:creationId xmlns:a16="http://schemas.microsoft.com/office/drawing/2014/main" id="{26990122-C6E3-4FF7-86AC-452DA816160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92213" y="2484735"/>
              <a:ext cx="762000" cy="646013"/>
              <a:chOff x="1920" y="1068"/>
              <a:chExt cx="768" cy="383"/>
            </a:xfrm>
          </p:grpSpPr>
          <p:grpSp>
            <p:nvGrpSpPr>
              <p:cNvPr id="61" name="Group 9">
                <a:extLst>
                  <a:ext uri="{FF2B5EF4-FFF2-40B4-BE49-F238E27FC236}">
                    <a16:creationId xmlns:a16="http://schemas.microsoft.com/office/drawing/2014/main" id="{562FC661-42B3-43EC-9DA8-E727BDB4457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20" y="1068"/>
                <a:ext cx="768" cy="383"/>
                <a:chOff x="1397" y="642"/>
                <a:chExt cx="805" cy="730"/>
              </a:xfrm>
            </p:grpSpPr>
            <p:sp>
              <p:nvSpPr>
                <p:cNvPr id="63" name="Oval 10">
                  <a:extLst>
                    <a:ext uri="{FF2B5EF4-FFF2-40B4-BE49-F238E27FC236}">
                      <a16:creationId xmlns:a16="http://schemas.microsoft.com/office/drawing/2014/main" id="{03A97E0B-68E1-4B43-A35F-E3E1E984AEC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1147"/>
                  <a:ext cx="805" cy="22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65" name="Rectangle 11">
                  <a:extLst>
                    <a:ext uri="{FF2B5EF4-FFF2-40B4-BE49-F238E27FC236}">
                      <a16:creationId xmlns:a16="http://schemas.microsoft.com/office/drawing/2014/main" id="{BC377B24-AADE-4C5D-A02D-F1ECFEFB8DF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730"/>
                  <a:ext cx="805" cy="517"/>
                </a:xfrm>
                <a:prstGeom prst="rect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66" name="Oval 12">
                  <a:extLst>
                    <a:ext uri="{FF2B5EF4-FFF2-40B4-BE49-F238E27FC236}">
                      <a16:creationId xmlns:a16="http://schemas.microsoft.com/office/drawing/2014/main" id="{4D080FE5-692A-493B-BE38-7DD29271154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642"/>
                  <a:ext cx="803" cy="17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67" name="Oval 13">
                  <a:extLst>
                    <a:ext uri="{FF2B5EF4-FFF2-40B4-BE49-F238E27FC236}">
                      <a16:creationId xmlns:a16="http://schemas.microsoft.com/office/drawing/2014/main" id="{7B0C5691-673A-475E-9A3A-5DFB4A22CC3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40" y="680"/>
                  <a:ext cx="522" cy="9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68" name="Oval 14">
                  <a:extLst>
                    <a:ext uri="{FF2B5EF4-FFF2-40B4-BE49-F238E27FC236}">
                      <a16:creationId xmlns:a16="http://schemas.microsoft.com/office/drawing/2014/main" id="{4828FC53-14BC-4A11-953E-FEF81EEA6B5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0" y="687"/>
                  <a:ext cx="502" cy="83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</p:grpSp>
          <p:sp>
            <p:nvSpPr>
              <p:cNvPr id="62" name="Text Box 15">
                <a:extLst>
                  <a:ext uri="{FF2B5EF4-FFF2-40B4-BE49-F238E27FC236}">
                    <a16:creationId xmlns:a16="http://schemas.microsoft.com/office/drawing/2014/main" id="{AC2495FB-27D8-4D78-A539-74A81C13932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27" y="1209"/>
                <a:ext cx="170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8" rIns="92075" bIns="46038" anchor="ctr"/>
              <a:lstStyle>
                <a:lvl1pPr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1pPr>
                <a:lvl2pPr marL="742950" indent="-28575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2pPr>
                <a:lvl3pPr marL="11430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3pPr>
                <a:lvl4pPr marL="16002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4pPr>
                <a:lvl5pPr marL="20574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5pPr>
                <a:lvl6pPr marL="25146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6pPr>
                <a:lvl7pPr marL="29718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7pPr>
                <a:lvl8pPr marL="34290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8pPr>
                <a:lvl9pPr marL="38862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9pPr>
              </a:lstStyle>
              <a:p>
                <a:pPr algn="ctr"/>
                <a:endParaRPr lang="ko-KR" altLang="ko-KR">
                  <a:latin typeface="휴먼각진헤드라인" pitchFamily="18" charset="-127"/>
                  <a:ea typeface="휴먼각진헤드라인" pitchFamily="18" charset="-127"/>
                </a:endParaRPr>
              </a:p>
            </p:txBody>
          </p:sp>
        </p:grpSp>
        <p:sp>
          <p:nvSpPr>
            <p:cNvPr id="60" name="Text Box 16">
              <a:extLst>
                <a:ext uri="{FF2B5EF4-FFF2-40B4-BE49-F238E27FC236}">
                  <a16:creationId xmlns:a16="http://schemas.microsoft.com/office/drawing/2014/main" id="{DC30F8D0-0C88-4B32-957E-E261FE84A0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73480" y="2731700"/>
              <a:ext cx="780663" cy="2436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 anchor="ctr">
              <a:spAutoFit/>
            </a:bodyPr>
            <a:lstStyle>
              <a:lvl1pPr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1000">
                  <a:latin typeface="Times New Roman" panose="02020603050405020304" pitchFamily="18" charset="0"/>
                </a:rPr>
                <a:t> </a:t>
              </a:r>
              <a:r>
                <a:rPr lang="ko-KR" altLang="en-US" sz="1000">
                  <a:latin typeface="Times New Roman" panose="02020603050405020304" pitchFamily="18" charset="0"/>
                </a:rPr>
                <a:t>운용</a:t>
              </a:r>
              <a:r>
                <a:rPr lang="en-US" altLang="ko-KR" sz="1000">
                  <a:latin typeface="Times New Roman" panose="02020603050405020304" pitchFamily="18" charset="0"/>
                </a:rPr>
                <a:t>Table</a:t>
              </a:r>
            </a:p>
          </p:txBody>
        </p:sp>
      </p:grpSp>
      <p:sp>
        <p:nvSpPr>
          <p:cNvPr id="79" name="Text Box 39">
            <a:extLst>
              <a:ext uri="{FF2B5EF4-FFF2-40B4-BE49-F238E27FC236}">
                <a16:creationId xmlns:a16="http://schemas.microsoft.com/office/drawing/2014/main" id="{278588ED-FF27-410E-91C2-E72350B4CC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8611" y="1633562"/>
            <a:ext cx="327776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altLang="ko-KR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• WCS Server</a:t>
            </a:r>
            <a:r>
              <a:rPr lang="en-US" altLang="ja-JP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(</a:t>
            </a:r>
            <a:r>
              <a:rPr lang="ko-KR" altLang="en-US" sz="1400" dirty="0" err="1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바이오파마</a:t>
            </a:r>
            <a:r>
              <a:rPr lang="ko-KR" altLang="en-US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 </a:t>
            </a:r>
            <a:r>
              <a:rPr lang="en-US" altLang="ko-KR" sz="1400" dirty="0" err="1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PostgreSql</a:t>
            </a:r>
            <a:r>
              <a:rPr lang="en-US" altLang="ko-KR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)</a:t>
            </a:r>
            <a:endParaRPr lang="en-US" altLang="ja-JP" sz="1400" dirty="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sp>
        <p:nvSpPr>
          <p:cNvPr id="80" name="Rectangle 33">
            <a:extLst>
              <a:ext uri="{FF2B5EF4-FFF2-40B4-BE49-F238E27FC236}">
                <a16:creationId xmlns:a16="http://schemas.microsoft.com/office/drawing/2014/main" id="{661F9805-A923-41AB-9CA6-55AEE52997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1636" y="1962175"/>
            <a:ext cx="3573463" cy="2100262"/>
          </a:xfrm>
          <a:prstGeom prst="rect">
            <a:avLst/>
          </a:prstGeom>
          <a:noFill/>
          <a:ln w="28575">
            <a:solidFill>
              <a:srgbClr val="9933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>
              <a:defRPr/>
            </a:pPr>
            <a:endParaRPr lang="ko-KR" altLang="en-US" sz="120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grpSp>
        <p:nvGrpSpPr>
          <p:cNvPr id="83" name="그룹 344">
            <a:extLst>
              <a:ext uri="{FF2B5EF4-FFF2-40B4-BE49-F238E27FC236}">
                <a16:creationId xmlns:a16="http://schemas.microsoft.com/office/drawing/2014/main" id="{12FA0967-AEFB-4290-909C-A08968C9F4FB}"/>
              </a:ext>
            </a:extLst>
          </p:cNvPr>
          <p:cNvGrpSpPr>
            <a:grpSpLocks/>
          </p:cNvGrpSpPr>
          <p:nvPr/>
        </p:nvGrpSpPr>
        <p:grpSpPr bwMode="auto">
          <a:xfrm>
            <a:off x="6201024" y="2232050"/>
            <a:ext cx="782637" cy="493712"/>
            <a:chOff x="1171587" y="2488104"/>
            <a:chExt cx="782626" cy="646012"/>
          </a:xfrm>
        </p:grpSpPr>
        <p:grpSp>
          <p:nvGrpSpPr>
            <p:cNvPr id="84" name="Group 8">
              <a:extLst>
                <a:ext uri="{FF2B5EF4-FFF2-40B4-BE49-F238E27FC236}">
                  <a16:creationId xmlns:a16="http://schemas.microsoft.com/office/drawing/2014/main" id="{5002911A-A0DE-4CAD-9326-9A11A3893F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92213" y="2488104"/>
              <a:ext cx="762000" cy="646012"/>
              <a:chOff x="1920" y="1070"/>
              <a:chExt cx="768" cy="383"/>
            </a:xfrm>
          </p:grpSpPr>
          <p:grpSp>
            <p:nvGrpSpPr>
              <p:cNvPr id="86" name="Group 9">
                <a:extLst>
                  <a:ext uri="{FF2B5EF4-FFF2-40B4-BE49-F238E27FC236}">
                    <a16:creationId xmlns:a16="http://schemas.microsoft.com/office/drawing/2014/main" id="{C0E8062A-177C-47A2-BAAA-BDF072FAD9A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20" y="1070"/>
                <a:ext cx="768" cy="383"/>
                <a:chOff x="1397" y="642"/>
                <a:chExt cx="805" cy="730"/>
              </a:xfrm>
            </p:grpSpPr>
            <p:sp>
              <p:nvSpPr>
                <p:cNvPr id="88" name="Oval 10">
                  <a:extLst>
                    <a:ext uri="{FF2B5EF4-FFF2-40B4-BE49-F238E27FC236}">
                      <a16:creationId xmlns:a16="http://schemas.microsoft.com/office/drawing/2014/main" id="{EB48F487-DB3B-46EA-AFF0-70AD63F3F9F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1147"/>
                  <a:ext cx="805" cy="22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89" name="Rectangle 11">
                  <a:extLst>
                    <a:ext uri="{FF2B5EF4-FFF2-40B4-BE49-F238E27FC236}">
                      <a16:creationId xmlns:a16="http://schemas.microsoft.com/office/drawing/2014/main" id="{FA425520-3E13-4C6D-8022-4F5C5B296C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730"/>
                  <a:ext cx="805" cy="517"/>
                </a:xfrm>
                <a:prstGeom prst="rect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90" name="Oval 12">
                  <a:extLst>
                    <a:ext uri="{FF2B5EF4-FFF2-40B4-BE49-F238E27FC236}">
                      <a16:creationId xmlns:a16="http://schemas.microsoft.com/office/drawing/2014/main" id="{E4FB397B-F82F-4E18-B95B-10C6C7DA415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642"/>
                  <a:ext cx="803" cy="17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91" name="Oval 13">
                  <a:extLst>
                    <a:ext uri="{FF2B5EF4-FFF2-40B4-BE49-F238E27FC236}">
                      <a16:creationId xmlns:a16="http://schemas.microsoft.com/office/drawing/2014/main" id="{0CEE7D44-DD51-4FC4-A430-9FF781B3A2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40" y="680"/>
                  <a:ext cx="522" cy="9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92" name="Oval 14">
                  <a:extLst>
                    <a:ext uri="{FF2B5EF4-FFF2-40B4-BE49-F238E27FC236}">
                      <a16:creationId xmlns:a16="http://schemas.microsoft.com/office/drawing/2014/main" id="{1FAD9F0E-33C8-4C1D-9F27-C093048D586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0" y="687"/>
                  <a:ext cx="502" cy="83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</p:grpSp>
          <p:sp>
            <p:nvSpPr>
              <p:cNvPr id="87" name="Text Box 15">
                <a:extLst>
                  <a:ext uri="{FF2B5EF4-FFF2-40B4-BE49-F238E27FC236}">
                    <a16:creationId xmlns:a16="http://schemas.microsoft.com/office/drawing/2014/main" id="{66380546-6FFB-4173-8B9D-1BA8D82FA85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27" y="1209"/>
                <a:ext cx="170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8" rIns="92075" bIns="46038" anchor="ctr"/>
              <a:lstStyle>
                <a:lvl1pPr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1pPr>
                <a:lvl2pPr marL="742950" indent="-28575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2pPr>
                <a:lvl3pPr marL="11430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3pPr>
                <a:lvl4pPr marL="16002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4pPr>
                <a:lvl5pPr marL="20574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5pPr>
                <a:lvl6pPr marL="25146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6pPr>
                <a:lvl7pPr marL="29718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7pPr>
                <a:lvl8pPr marL="34290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8pPr>
                <a:lvl9pPr marL="38862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9pPr>
              </a:lstStyle>
              <a:p>
                <a:pPr algn="ctr"/>
                <a:endParaRPr lang="ko-KR" altLang="ko-KR">
                  <a:latin typeface="휴먼각진헤드라인" pitchFamily="18" charset="-127"/>
                  <a:ea typeface="휴먼각진헤드라인" pitchFamily="18" charset="-127"/>
                </a:endParaRPr>
              </a:p>
            </p:txBody>
          </p:sp>
        </p:grpSp>
        <p:sp>
          <p:nvSpPr>
            <p:cNvPr id="85" name="Text Box 16">
              <a:extLst>
                <a:ext uri="{FF2B5EF4-FFF2-40B4-BE49-F238E27FC236}">
                  <a16:creationId xmlns:a16="http://schemas.microsoft.com/office/drawing/2014/main" id="{B0A74E56-7B42-42DE-A49A-0C763B95025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71587" y="2687512"/>
              <a:ext cx="780664" cy="318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 anchor="ctr">
              <a:spAutoFit/>
            </a:bodyPr>
            <a:lstStyle>
              <a:lvl1pPr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1000">
                  <a:latin typeface="Times New Roman" panose="02020603050405020304" pitchFamily="18" charset="0"/>
                </a:rPr>
                <a:t> </a:t>
              </a:r>
              <a:r>
                <a:rPr lang="ko-KR" altLang="en-US" sz="1000">
                  <a:latin typeface="Times New Roman" panose="02020603050405020304" pitchFamily="18" charset="0"/>
                </a:rPr>
                <a:t>운용</a:t>
              </a:r>
              <a:r>
                <a:rPr lang="en-US" altLang="ko-KR" sz="1000">
                  <a:latin typeface="Times New Roman" panose="02020603050405020304" pitchFamily="18" charset="0"/>
                </a:rPr>
                <a:t>Table</a:t>
              </a:r>
            </a:p>
          </p:txBody>
        </p:sp>
      </p:grpSp>
      <p:cxnSp>
        <p:nvCxnSpPr>
          <p:cNvPr id="94" name="AutoShape 56">
            <a:extLst>
              <a:ext uri="{FF2B5EF4-FFF2-40B4-BE49-F238E27FC236}">
                <a16:creationId xmlns:a16="http://schemas.microsoft.com/office/drawing/2014/main" id="{D26B2645-F6F3-43A6-9B02-679528B87720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6487567" y="2920231"/>
            <a:ext cx="390525" cy="1588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6" name="Arc 91">
            <a:extLst>
              <a:ext uri="{FF2B5EF4-FFF2-40B4-BE49-F238E27FC236}">
                <a16:creationId xmlns:a16="http://schemas.microsoft.com/office/drawing/2014/main" id="{4010F75B-0B91-4CF0-97A0-0D4FED8C2878}"/>
              </a:ext>
            </a:extLst>
          </p:cNvPr>
          <p:cNvSpPr>
            <a:spLocks/>
          </p:cNvSpPr>
          <p:nvPr/>
        </p:nvSpPr>
        <p:spPr bwMode="auto">
          <a:xfrm>
            <a:off x="5452670" y="2041188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/>
          </a:p>
        </p:txBody>
      </p:sp>
      <p:cxnSp>
        <p:nvCxnSpPr>
          <p:cNvPr id="99" name="AutoShape 56">
            <a:extLst>
              <a:ext uri="{FF2B5EF4-FFF2-40B4-BE49-F238E27FC236}">
                <a16:creationId xmlns:a16="http://schemas.microsoft.com/office/drawing/2014/main" id="{FF106858-5505-4F74-A14D-DCB203FE704F}"/>
              </a:ext>
            </a:extLst>
          </p:cNvPr>
          <p:cNvCxnSpPr>
            <a:cxnSpLocks noChangeShapeType="1"/>
          </p:cNvCxnSpPr>
          <p:nvPr/>
        </p:nvCxnSpPr>
        <p:spPr bwMode="auto">
          <a:xfrm rot="5400000">
            <a:off x="6344692" y="2926581"/>
            <a:ext cx="388938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100" name="그룹 354">
            <a:extLst>
              <a:ext uri="{FF2B5EF4-FFF2-40B4-BE49-F238E27FC236}">
                <a16:creationId xmlns:a16="http://schemas.microsoft.com/office/drawing/2014/main" id="{1E8EAF1C-015F-49E2-AFCE-1E48D546A7E5}"/>
              </a:ext>
            </a:extLst>
          </p:cNvPr>
          <p:cNvGrpSpPr>
            <a:grpSpLocks/>
          </p:cNvGrpSpPr>
          <p:nvPr/>
        </p:nvGrpSpPr>
        <p:grpSpPr bwMode="auto">
          <a:xfrm>
            <a:off x="6221661" y="3116287"/>
            <a:ext cx="762000" cy="495300"/>
            <a:chOff x="1192213" y="2491481"/>
            <a:chExt cx="762000" cy="646013"/>
          </a:xfrm>
        </p:grpSpPr>
        <p:grpSp>
          <p:nvGrpSpPr>
            <p:cNvPr id="101" name="Group 8">
              <a:extLst>
                <a:ext uri="{FF2B5EF4-FFF2-40B4-BE49-F238E27FC236}">
                  <a16:creationId xmlns:a16="http://schemas.microsoft.com/office/drawing/2014/main" id="{AFDA6534-4EA4-4AAB-B6ED-40CC097FF1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92213" y="2491481"/>
              <a:ext cx="762000" cy="646013"/>
              <a:chOff x="1920" y="1072"/>
              <a:chExt cx="768" cy="383"/>
            </a:xfrm>
          </p:grpSpPr>
          <p:grpSp>
            <p:nvGrpSpPr>
              <p:cNvPr id="103" name="Group 9">
                <a:extLst>
                  <a:ext uri="{FF2B5EF4-FFF2-40B4-BE49-F238E27FC236}">
                    <a16:creationId xmlns:a16="http://schemas.microsoft.com/office/drawing/2014/main" id="{90A23D1D-2CEC-4BED-A5D2-9A64C6A2803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20" y="1072"/>
                <a:ext cx="768" cy="383"/>
                <a:chOff x="1397" y="642"/>
                <a:chExt cx="805" cy="730"/>
              </a:xfrm>
            </p:grpSpPr>
            <p:sp>
              <p:nvSpPr>
                <p:cNvPr id="105" name="Oval 10">
                  <a:extLst>
                    <a:ext uri="{FF2B5EF4-FFF2-40B4-BE49-F238E27FC236}">
                      <a16:creationId xmlns:a16="http://schemas.microsoft.com/office/drawing/2014/main" id="{E3A5E01E-FDF4-4594-94BE-E6ED894BC63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1147"/>
                  <a:ext cx="805" cy="22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106" name="Rectangle 11">
                  <a:extLst>
                    <a:ext uri="{FF2B5EF4-FFF2-40B4-BE49-F238E27FC236}">
                      <a16:creationId xmlns:a16="http://schemas.microsoft.com/office/drawing/2014/main" id="{F49814B6-8EE5-4377-A205-CC9B97D7DC8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730"/>
                  <a:ext cx="805" cy="517"/>
                </a:xfrm>
                <a:prstGeom prst="rect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107" name="Oval 12">
                  <a:extLst>
                    <a:ext uri="{FF2B5EF4-FFF2-40B4-BE49-F238E27FC236}">
                      <a16:creationId xmlns:a16="http://schemas.microsoft.com/office/drawing/2014/main" id="{11434E67-5D9B-4B55-A728-120AECA1E3C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642"/>
                  <a:ext cx="803" cy="17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108" name="Oval 13">
                  <a:extLst>
                    <a:ext uri="{FF2B5EF4-FFF2-40B4-BE49-F238E27FC236}">
                      <a16:creationId xmlns:a16="http://schemas.microsoft.com/office/drawing/2014/main" id="{E8965F8D-63B1-4174-AC1E-FBC60A403BA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40" y="680"/>
                  <a:ext cx="522" cy="9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109" name="Oval 14">
                  <a:extLst>
                    <a:ext uri="{FF2B5EF4-FFF2-40B4-BE49-F238E27FC236}">
                      <a16:creationId xmlns:a16="http://schemas.microsoft.com/office/drawing/2014/main" id="{3F32B310-BB73-424C-8E0C-AC27AB136DD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0" y="687"/>
                  <a:ext cx="502" cy="83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</p:grpSp>
          <p:sp>
            <p:nvSpPr>
              <p:cNvPr id="104" name="Text Box 15">
                <a:extLst>
                  <a:ext uri="{FF2B5EF4-FFF2-40B4-BE49-F238E27FC236}">
                    <a16:creationId xmlns:a16="http://schemas.microsoft.com/office/drawing/2014/main" id="{1198CA08-3A31-4D5A-A81C-9F3CBCE575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27" y="1209"/>
                <a:ext cx="170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8" rIns="92075" bIns="46038" anchor="ctr"/>
              <a:lstStyle>
                <a:lvl1pPr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1pPr>
                <a:lvl2pPr marL="742950" indent="-28575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2pPr>
                <a:lvl3pPr marL="11430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3pPr>
                <a:lvl4pPr marL="16002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4pPr>
                <a:lvl5pPr marL="20574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5pPr>
                <a:lvl6pPr marL="25146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6pPr>
                <a:lvl7pPr marL="29718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7pPr>
                <a:lvl8pPr marL="34290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8pPr>
                <a:lvl9pPr marL="38862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9pPr>
              </a:lstStyle>
              <a:p>
                <a:pPr algn="ctr"/>
                <a:endParaRPr lang="ko-KR" altLang="ko-KR">
                  <a:latin typeface="휴먼각진헤드라인" pitchFamily="18" charset="-127"/>
                  <a:ea typeface="휴먼각진헤드라인" pitchFamily="18" charset="-127"/>
                </a:endParaRPr>
              </a:p>
            </p:txBody>
          </p:sp>
        </p:grpSp>
        <p:sp>
          <p:nvSpPr>
            <p:cNvPr id="102" name="Text Box 16">
              <a:extLst>
                <a:ext uri="{FF2B5EF4-FFF2-40B4-BE49-F238E27FC236}">
                  <a16:creationId xmlns:a16="http://schemas.microsoft.com/office/drawing/2014/main" id="{640D6F72-7404-40AC-A805-6B8C95AA4E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3975" y="2608467"/>
              <a:ext cx="684484" cy="518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 anchor="ctr">
              <a:spAutoFit/>
            </a:bodyPr>
            <a:lstStyle>
              <a:lvl1pPr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1000" dirty="0">
                  <a:latin typeface="Times New Roman" panose="02020603050405020304" pitchFamily="18" charset="0"/>
                </a:rPr>
                <a:t>Interface</a:t>
              </a:r>
            </a:p>
            <a:p>
              <a:pPr algn="ctr"/>
              <a:r>
                <a:rPr lang="en-US" altLang="ko-KR" sz="1000" dirty="0">
                  <a:latin typeface="Times New Roman" panose="02020603050405020304" pitchFamily="18" charset="0"/>
                </a:rPr>
                <a:t>Table</a:t>
              </a:r>
            </a:p>
          </p:txBody>
        </p:sp>
      </p:grpSp>
      <p:grpSp>
        <p:nvGrpSpPr>
          <p:cNvPr id="70" name="그룹 95">
            <a:extLst>
              <a:ext uri="{FF2B5EF4-FFF2-40B4-BE49-F238E27FC236}">
                <a16:creationId xmlns:a16="http://schemas.microsoft.com/office/drawing/2014/main" id="{D43CA38B-A5AD-4B2D-9DDD-A7DF5A1EBF64}"/>
              </a:ext>
            </a:extLst>
          </p:cNvPr>
          <p:cNvGrpSpPr>
            <a:grpSpLocks/>
          </p:cNvGrpSpPr>
          <p:nvPr/>
        </p:nvGrpSpPr>
        <p:grpSpPr bwMode="auto">
          <a:xfrm>
            <a:off x="1905377" y="3110768"/>
            <a:ext cx="762309" cy="495300"/>
            <a:chOff x="1192213" y="2484735"/>
            <a:chExt cx="762000" cy="646013"/>
          </a:xfrm>
        </p:grpSpPr>
        <p:grpSp>
          <p:nvGrpSpPr>
            <p:cNvPr id="71" name="Group 8">
              <a:extLst>
                <a:ext uri="{FF2B5EF4-FFF2-40B4-BE49-F238E27FC236}">
                  <a16:creationId xmlns:a16="http://schemas.microsoft.com/office/drawing/2014/main" id="{5F201CC7-CF33-412E-BA89-BF2665F55F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92213" y="2484735"/>
              <a:ext cx="762000" cy="646013"/>
              <a:chOff x="1920" y="1068"/>
              <a:chExt cx="768" cy="383"/>
            </a:xfrm>
          </p:grpSpPr>
          <p:grpSp>
            <p:nvGrpSpPr>
              <p:cNvPr id="73" name="Group 9">
                <a:extLst>
                  <a:ext uri="{FF2B5EF4-FFF2-40B4-BE49-F238E27FC236}">
                    <a16:creationId xmlns:a16="http://schemas.microsoft.com/office/drawing/2014/main" id="{E57D806D-5A54-49D7-AC9A-1C694801A4E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20" y="1068"/>
                <a:ext cx="768" cy="383"/>
                <a:chOff x="1397" y="642"/>
                <a:chExt cx="805" cy="730"/>
              </a:xfrm>
            </p:grpSpPr>
            <p:sp>
              <p:nvSpPr>
                <p:cNvPr id="75" name="Oval 10">
                  <a:extLst>
                    <a:ext uri="{FF2B5EF4-FFF2-40B4-BE49-F238E27FC236}">
                      <a16:creationId xmlns:a16="http://schemas.microsoft.com/office/drawing/2014/main" id="{C77AC7B2-3366-4A6F-BFEB-D1116436FBB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1147"/>
                  <a:ext cx="805" cy="22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76" name="Rectangle 11">
                  <a:extLst>
                    <a:ext uri="{FF2B5EF4-FFF2-40B4-BE49-F238E27FC236}">
                      <a16:creationId xmlns:a16="http://schemas.microsoft.com/office/drawing/2014/main" id="{276C021E-ADBC-4354-A79C-6F0C44D8016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730"/>
                  <a:ext cx="805" cy="517"/>
                </a:xfrm>
                <a:prstGeom prst="rect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77" name="Oval 12">
                  <a:extLst>
                    <a:ext uri="{FF2B5EF4-FFF2-40B4-BE49-F238E27FC236}">
                      <a16:creationId xmlns:a16="http://schemas.microsoft.com/office/drawing/2014/main" id="{50631E3D-2CBC-4E1C-AB4A-3CCF713DD95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642"/>
                  <a:ext cx="803" cy="17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78" name="Oval 13">
                  <a:extLst>
                    <a:ext uri="{FF2B5EF4-FFF2-40B4-BE49-F238E27FC236}">
                      <a16:creationId xmlns:a16="http://schemas.microsoft.com/office/drawing/2014/main" id="{0F8B98CB-ED42-4CA0-87A8-E559740591C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40" y="680"/>
                  <a:ext cx="522" cy="9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95" name="Oval 14">
                  <a:extLst>
                    <a:ext uri="{FF2B5EF4-FFF2-40B4-BE49-F238E27FC236}">
                      <a16:creationId xmlns:a16="http://schemas.microsoft.com/office/drawing/2014/main" id="{046780EB-D52F-4BBD-899B-E3D7C2CE4E7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0" y="687"/>
                  <a:ext cx="502" cy="83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</p:grpSp>
          <p:sp>
            <p:nvSpPr>
              <p:cNvPr id="74" name="Text Box 15">
                <a:extLst>
                  <a:ext uri="{FF2B5EF4-FFF2-40B4-BE49-F238E27FC236}">
                    <a16:creationId xmlns:a16="http://schemas.microsoft.com/office/drawing/2014/main" id="{BA9BE439-FC17-41AF-81E0-7801B9A16D1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27" y="1209"/>
                <a:ext cx="170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8" rIns="92075" bIns="46038" anchor="ctr"/>
              <a:lstStyle>
                <a:lvl1pPr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1pPr>
                <a:lvl2pPr marL="742950" indent="-28575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2pPr>
                <a:lvl3pPr marL="11430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3pPr>
                <a:lvl4pPr marL="16002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4pPr>
                <a:lvl5pPr marL="20574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5pPr>
                <a:lvl6pPr marL="25146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6pPr>
                <a:lvl7pPr marL="29718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7pPr>
                <a:lvl8pPr marL="34290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8pPr>
                <a:lvl9pPr marL="38862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9pPr>
              </a:lstStyle>
              <a:p>
                <a:pPr algn="ctr"/>
                <a:endParaRPr lang="ko-KR" altLang="ko-KR">
                  <a:latin typeface="휴먼각진헤드라인" pitchFamily="18" charset="-127"/>
                  <a:ea typeface="휴먼각진헤드라인" pitchFamily="18" charset="-127"/>
                </a:endParaRPr>
              </a:p>
            </p:txBody>
          </p:sp>
        </p:grpSp>
        <p:sp>
          <p:nvSpPr>
            <p:cNvPr id="72" name="Text Box 16">
              <a:extLst>
                <a:ext uri="{FF2B5EF4-FFF2-40B4-BE49-F238E27FC236}">
                  <a16:creationId xmlns:a16="http://schemas.microsoft.com/office/drawing/2014/main" id="{DE76F97D-51B2-4E77-8D75-CDE12E6C3C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1709" y="2594273"/>
              <a:ext cx="684207" cy="5185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 anchor="ctr">
              <a:spAutoFit/>
            </a:bodyPr>
            <a:lstStyle>
              <a:lvl1pPr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1000">
                  <a:latin typeface="Times New Roman" panose="02020603050405020304" pitchFamily="18" charset="0"/>
                </a:rPr>
                <a:t>Interface</a:t>
              </a:r>
            </a:p>
            <a:p>
              <a:pPr algn="ctr"/>
              <a:r>
                <a:rPr lang="en-US" altLang="ko-KR" sz="1000">
                  <a:latin typeface="Times New Roman" panose="02020603050405020304" pitchFamily="18" charset="0"/>
                </a:rPr>
                <a:t>Table</a:t>
              </a:r>
            </a:p>
          </p:txBody>
        </p:sp>
      </p:grpSp>
      <p:cxnSp>
        <p:nvCxnSpPr>
          <p:cNvPr id="138" name="AutoShape 56">
            <a:extLst>
              <a:ext uri="{FF2B5EF4-FFF2-40B4-BE49-F238E27FC236}">
                <a16:creationId xmlns:a16="http://schemas.microsoft.com/office/drawing/2014/main" id="{82FEC775-B897-45CF-A956-6CF1AA99601B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2174318" y="2926709"/>
            <a:ext cx="390525" cy="1588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AutoShape 56">
            <a:extLst>
              <a:ext uri="{FF2B5EF4-FFF2-40B4-BE49-F238E27FC236}">
                <a16:creationId xmlns:a16="http://schemas.microsoft.com/office/drawing/2014/main" id="{5F2CBF72-9BB7-43AB-AE43-CD996C69711D}"/>
              </a:ext>
            </a:extLst>
          </p:cNvPr>
          <p:cNvCxnSpPr>
            <a:cxnSpLocks noChangeShapeType="1"/>
          </p:cNvCxnSpPr>
          <p:nvPr/>
        </p:nvCxnSpPr>
        <p:spPr bwMode="auto">
          <a:xfrm rot="5400000">
            <a:off x="2031443" y="2933059"/>
            <a:ext cx="388938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2" name="AutoShape 56">
            <a:extLst>
              <a:ext uri="{FF2B5EF4-FFF2-40B4-BE49-F238E27FC236}">
                <a16:creationId xmlns:a16="http://schemas.microsoft.com/office/drawing/2014/main" id="{4C61A1D2-E928-4ECD-B628-968E812A8077}"/>
              </a:ext>
            </a:extLst>
          </p:cNvPr>
          <p:cNvCxnSpPr>
            <a:cxnSpLocks noChangeShapeType="1"/>
          </p:cNvCxnSpPr>
          <p:nvPr/>
        </p:nvCxnSpPr>
        <p:spPr bwMode="auto">
          <a:xfrm rot="10800000">
            <a:off x="5273139" y="2749855"/>
            <a:ext cx="1036658" cy="579405"/>
          </a:xfrm>
          <a:prstGeom prst="bentConnector2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3" name="AutoShape 56">
            <a:extLst>
              <a:ext uri="{FF2B5EF4-FFF2-40B4-BE49-F238E27FC236}">
                <a16:creationId xmlns:a16="http://schemas.microsoft.com/office/drawing/2014/main" id="{7BA09652-D142-49E4-AD73-215FB290911C}"/>
              </a:ext>
            </a:extLst>
          </p:cNvPr>
          <p:cNvCxnSpPr>
            <a:cxnSpLocks noChangeShapeType="1"/>
            <a:stCxn id="53" idx="2"/>
            <a:endCxn id="155" idx="1"/>
          </p:cNvCxnSpPr>
          <p:nvPr/>
        </p:nvCxnSpPr>
        <p:spPr bwMode="auto">
          <a:xfrm rot="16200000" flipH="1">
            <a:off x="5390502" y="2557075"/>
            <a:ext cx="651101" cy="1036658"/>
          </a:xfrm>
          <a:prstGeom prst="bentConnector2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6D57D03-473A-4294-845C-39BEF5DFA1FD}"/>
              </a:ext>
            </a:extLst>
          </p:cNvPr>
          <p:cNvSpPr/>
          <p:nvPr/>
        </p:nvSpPr>
        <p:spPr bwMode="auto">
          <a:xfrm>
            <a:off x="3209508" y="2403764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E1E40706-2A89-4D22-B043-AF3E1F2E53EC}"/>
              </a:ext>
            </a:extLst>
          </p:cNvPr>
          <p:cNvSpPr/>
          <p:nvPr/>
        </p:nvSpPr>
        <p:spPr bwMode="auto">
          <a:xfrm>
            <a:off x="3209508" y="2475460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37BB5DD2-84AA-4B08-85B7-0F0B08E52F00}"/>
              </a:ext>
            </a:extLst>
          </p:cNvPr>
          <p:cNvSpPr/>
          <p:nvPr/>
        </p:nvSpPr>
        <p:spPr bwMode="auto">
          <a:xfrm>
            <a:off x="3794569" y="2398218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47" name="직사각형 146">
            <a:extLst>
              <a:ext uri="{FF2B5EF4-FFF2-40B4-BE49-F238E27FC236}">
                <a16:creationId xmlns:a16="http://schemas.microsoft.com/office/drawing/2014/main" id="{60F17423-EF57-477A-A23E-08037B252AE3}"/>
              </a:ext>
            </a:extLst>
          </p:cNvPr>
          <p:cNvSpPr/>
          <p:nvPr/>
        </p:nvSpPr>
        <p:spPr bwMode="auto">
          <a:xfrm>
            <a:off x="3794569" y="2469914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0" name="직사각형 149">
            <a:extLst>
              <a:ext uri="{FF2B5EF4-FFF2-40B4-BE49-F238E27FC236}">
                <a16:creationId xmlns:a16="http://schemas.microsoft.com/office/drawing/2014/main" id="{E94C2F9B-953F-4200-81C9-2F9A4B2256EB}"/>
              </a:ext>
            </a:extLst>
          </p:cNvPr>
          <p:cNvSpPr/>
          <p:nvPr/>
        </p:nvSpPr>
        <p:spPr bwMode="auto">
          <a:xfrm>
            <a:off x="3215262" y="3706894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1" name="직사각형 150">
            <a:extLst>
              <a:ext uri="{FF2B5EF4-FFF2-40B4-BE49-F238E27FC236}">
                <a16:creationId xmlns:a16="http://schemas.microsoft.com/office/drawing/2014/main" id="{931F1EDB-4EB2-4D50-909C-DCF08DBA91F3}"/>
              </a:ext>
            </a:extLst>
          </p:cNvPr>
          <p:cNvSpPr/>
          <p:nvPr/>
        </p:nvSpPr>
        <p:spPr bwMode="auto">
          <a:xfrm>
            <a:off x="3215262" y="3778590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4" name="직사각형 153">
            <a:extLst>
              <a:ext uri="{FF2B5EF4-FFF2-40B4-BE49-F238E27FC236}">
                <a16:creationId xmlns:a16="http://schemas.microsoft.com/office/drawing/2014/main" id="{95DFDE54-1990-4063-A874-59E6C6922F2E}"/>
              </a:ext>
            </a:extLst>
          </p:cNvPr>
          <p:cNvSpPr/>
          <p:nvPr/>
        </p:nvSpPr>
        <p:spPr bwMode="auto">
          <a:xfrm>
            <a:off x="6234381" y="3293255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5" name="직사각형 154">
            <a:extLst>
              <a:ext uri="{FF2B5EF4-FFF2-40B4-BE49-F238E27FC236}">
                <a16:creationId xmlns:a16="http://schemas.microsoft.com/office/drawing/2014/main" id="{4BEC5486-DF25-4DBA-AEDB-93444DC60DB7}"/>
              </a:ext>
            </a:extLst>
          </p:cNvPr>
          <p:cNvSpPr/>
          <p:nvPr/>
        </p:nvSpPr>
        <p:spPr bwMode="auto">
          <a:xfrm>
            <a:off x="6234381" y="3364951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8" name="직사각형 157">
            <a:extLst>
              <a:ext uri="{FF2B5EF4-FFF2-40B4-BE49-F238E27FC236}">
                <a16:creationId xmlns:a16="http://schemas.microsoft.com/office/drawing/2014/main" id="{46A39E31-6ED1-491B-8E1C-5B4460BC07E1}"/>
              </a:ext>
            </a:extLst>
          </p:cNvPr>
          <p:cNvSpPr/>
          <p:nvPr/>
        </p:nvSpPr>
        <p:spPr bwMode="auto">
          <a:xfrm>
            <a:off x="2515763" y="3205429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A038B33F-0C27-4C8D-B891-C47ED9606AF2}"/>
              </a:ext>
            </a:extLst>
          </p:cNvPr>
          <p:cNvSpPr/>
          <p:nvPr/>
        </p:nvSpPr>
        <p:spPr bwMode="auto">
          <a:xfrm>
            <a:off x="2515763" y="3277125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60" name="직사각형 159">
            <a:extLst>
              <a:ext uri="{FF2B5EF4-FFF2-40B4-BE49-F238E27FC236}">
                <a16:creationId xmlns:a16="http://schemas.microsoft.com/office/drawing/2014/main" id="{F92EF871-B4BB-4F4C-A60C-D8B923E665EB}"/>
              </a:ext>
            </a:extLst>
          </p:cNvPr>
          <p:cNvSpPr/>
          <p:nvPr/>
        </p:nvSpPr>
        <p:spPr bwMode="auto">
          <a:xfrm>
            <a:off x="2513927" y="3377552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ACBB40A6-CC0C-4EB4-906E-CDE20A7CDF1D}"/>
              </a:ext>
            </a:extLst>
          </p:cNvPr>
          <p:cNvSpPr/>
          <p:nvPr/>
        </p:nvSpPr>
        <p:spPr bwMode="auto">
          <a:xfrm>
            <a:off x="2513927" y="3449248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cxnSp>
        <p:nvCxnSpPr>
          <p:cNvPr id="162" name="AutoShape 56">
            <a:extLst>
              <a:ext uri="{FF2B5EF4-FFF2-40B4-BE49-F238E27FC236}">
                <a16:creationId xmlns:a16="http://schemas.microsoft.com/office/drawing/2014/main" id="{B791E8B6-48C1-47DB-8511-A50303F5CEEE}"/>
              </a:ext>
            </a:extLst>
          </p:cNvPr>
          <p:cNvCxnSpPr>
            <a:cxnSpLocks noChangeShapeType="1"/>
            <a:stCxn id="5" idx="1"/>
            <a:endCxn id="158" idx="3"/>
          </p:cNvCxnSpPr>
          <p:nvPr/>
        </p:nvCxnSpPr>
        <p:spPr bwMode="auto">
          <a:xfrm rot="10800000" flipV="1">
            <a:off x="2653706" y="2439767"/>
            <a:ext cx="555802" cy="80166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64" name="AutoShape 56">
            <a:extLst>
              <a:ext uri="{FF2B5EF4-FFF2-40B4-BE49-F238E27FC236}">
                <a16:creationId xmlns:a16="http://schemas.microsoft.com/office/drawing/2014/main" id="{7560B879-3F36-4338-84B9-CB89CFA145D2}"/>
              </a:ext>
            </a:extLst>
          </p:cNvPr>
          <p:cNvCxnSpPr>
            <a:cxnSpLocks noChangeShapeType="1"/>
            <a:stCxn id="159" idx="3"/>
            <a:endCxn id="110" idx="1"/>
          </p:cNvCxnSpPr>
          <p:nvPr/>
        </p:nvCxnSpPr>
        <p:spPr bwMode="auto">
          <a:xfrm flipV="1">
            <a:off x="2653706" y="2511464"/>
            <a:ext cx="555802" cy="801665"/>
          </a:xfrm>
          <a:prstGeom prst="bentConnector3">
            <a:avLst>
              <a:gd name="adj1" fmla="val 60282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" name="AutoShape 37">
            <a:extLst>
              <a:ext uri="{FF2B5EF4-FFF2-40B4-BE49-F238E27FC236}">
                <a16:creationId xmlns:a16="http://schemas.microsoft.com/office/drawing/2014/main" id="{82082BBE-7141-B091-9A70-19BEBB97B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20298" y="2208237"/>
            <a:ext cx="728663" cy="5238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10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Interface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10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Task</a:t>
            </a:r>
          </a:p>
        </p:txBody>
      </p:sp>
      <p:cxnSp>
        <p:nvCxnSpPr>
          <p:cNvPr id="13" name="AutoShape 56">
            <a:extLst>
              <a:ext uri="{FF2B5EF4-FFF2-40B4-BE49-F238E27FC236}">
                <a16:creationId xmlns:a16="http://schemas.microsoft.com/office/drawing/2014/main" id="{6AEA23F2-F8C9-F3E9-8933-770840EC087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32616" y="2446608"/>
            <a:ext cx="1000050" cy="3972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AutoShape 56">
            <a:extLst>
              <a:ext uri="{FF2B5EF4-FFF2-40B4-BE49-F238E27FC236}">
                <a16:creationId xmlns:a16="http://schemas.microsoft.com/office/drawing/2014/main" id="{2E9FD371-0348-ED23-CF47-F872730E921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20708" y="2531916"/>
            <a:ext cx="1000050" cy="3972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 type="triangle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1628282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3.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인터페이스 항목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8DFCBEB-32C8-4B19-91DD-416EFA0017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1651710"/>
              </p:ext>
            </p:extLst>
          </p:nvPr>
        </p:nvGraphicFramePr>
        <p:xfrm>
          <a:off x="490905" y="887668"/>
          <a:ext cx="8473583" cy="2325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0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4855884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577505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1487491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</a:tblGrid>
              <a:tr h="2787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No.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송신시스템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수신시스템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</a:t>
                      </a:r>
                      <a:endParaRPr lang="ko-KR" altLang="en-US" sz="11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설비 상태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WCS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/>
                        <a:t>WMS</a:t>
                      </a:r>
                      <a:endParaRPr lang="ko-KR" altLang="en-US" sz="11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2804207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</a:t>
                      </a:r>
                      <a:endParaRPr lang="ko-KR" altLang="en-US" sz="11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DE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 지시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DE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DE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</a:t>
                      </a:r>
                      <a:endParaRPr lang="ko-KR" altLang="en-US" sz="11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 완료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WCS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WMS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7910286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4</a:t>
                      </a:r>
                      <a:endParaRPr lang="ko-KR" altLang="en-US" sz="11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 err="1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설비에러</a:t>
                      </a:r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</a:t>
                      </a:r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 </a:t>
                      </a:r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/ </a:t>
                      </a:r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 출고</a:t>
                      </a:r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WCS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WMS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576880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5</a:t>
                      </a:r>
                      <a:endParaRPr lang="ko-KR" altLang="en-US" sz="1100" b="1" dirty="0">
                        <a:solidFill>
                          <a:srgbClr val="FF0000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1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 요청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1" dirty="0">
                          <a:solidFill>
                            <a:srgbClr val="FF0000"/>
                          </a:solidFill>
                        </a:rPr>
                        <a:t>WCS</a:t>
                      </a:r>
                      <a:endParaRPr lang="ko-KR" altLang="en-US" sz="11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1" dirty="0">
                          <a:solidFill>
                            <a:srgbClr val="FF0000"/>
                          </a:solidFill>
                        </a:rPr>
                        <a:t>WMS</a:t>
                      </a:r>
                      <a:endParaRPr lang="ko-KR" altLang="en-US" sz="11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3168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3253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4. Interface </a:t>
            </a:r>
            <a:r>
              <a:rPr lang="ko-KR" altLang="en-US"/>
              <a:t>흐름도 </a:t>
            </a:r>
            <a:r>
              <a:rPr lang="en-US" altLang="ko-KR"/>
              <a:t>(</a:t>
            </a:r>
            <a:r>
              <a:rPr lang="ko-KR" altLang="en-US"/>
              <a:t>설비 상태</a:t>
            </a:r>
            <a:r>
              <a:rPr lang="en-US" altLang="ko-KR"/>
              <a:t>) - </a:t>
            </a:r>
            <a:r>
              <a:rPr lang="ko-KR" altLang="en-US"/>
              <a:t>작업대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9BC7818-6D0A-4105-9942-48F9BA594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5977014"/>
              </p:ext>
            </p:extLst>
          </p:nvPr>
        </p:nvGraphicFramePr>
        <p:xfrm>
          <a:off x="490905" y="908720"/>
          <a:ext cx="8528901" cy="5390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6552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076552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239555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3258231793"/>
                    </a:ext>
                  </a:extLst>
                </a:gridCol>
                <a:gridCol w="1713842">
                  <a:extLst>
                    <a:ext uri="{9D8B030D-6E8A-4147-A177-3AD203B41FA5}">
                      <a16:colId xmlns:a16="http://schemas.microsoft.com/office/drawing/2014/main" val="2945053963"/>
                    </a:ext>
                  </a:extLst>
                </a:gridCol>
              </a:tblGrid>
              <a:tr h="486279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000" b="1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77817">
                <a:tc rowSpan="19">
                  <a:txBody>
                    <a:bodyPr/>
                    <a:lstStyle/>
                    <a:p>
                      <a:pPr algn="ctr" latinLnBrk="1"/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9">
                  <a:txBody>
                    <a:bodyPr/>
                    <a:lstStyle/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cs typeface="+mn-cs"/>
                        </a:rPr>
                        <a:t>주요 항목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cs typeface="+mn-cs"/>
                        </a:rPr>
                        <a:t>항목명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cs typeface="+mn-cs"/>
                        </a:rPr>
                        <a:t>도메인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CV_STA</a:t>
                      </a: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작업대별 화물 유무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화물 없음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360473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화물 있음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4431410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CV_IO_MODE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입출고 스위치 모드 상태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5567326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출고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576960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입출고모드 없음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9942709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LUGG_NO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작업번호</a:t>
                      </a:r>
                      <a:endParaRPr lang="en-US" altLang="ko-KR" sz="900" b="1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설비 작업번호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(4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자리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6735235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MC_STA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 가능여부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 :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가능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7175963"/>
                  </a:ext>
                </a:extLst>
              </a:tr>
              <a:tr h="19914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불가능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073105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rowSpan="9"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SC_STA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9"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상태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정상이며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IDLE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상태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9283349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입고작업 수행 중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0305201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출고작업 수행 중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8507487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 : Rack To Rack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수행 중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6901476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4 : Online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모드가 아닌 상태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959393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5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에러발생 상태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3568660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6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입고중지 상태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177548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7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출고중지 상태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980076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8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입출고 중지 상태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93143"/>
                  </a:ext>
                </a:extLst>
              </a:tr>
              <a:tr h="3999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171450" marR="0" lvl="0" indent="-17145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각 항목별 작업대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SC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번호 순 으로 연이어 입력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171450" marR="0" lvl="0" indent="-17145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설비 상태 변경 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IF_MC_STA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수정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</a:p>
                    <a:p>
                      <a:pPr marL="171450" marR="0" lvl="0" indent="-17145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WMS: IF_MC_STA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검색하여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MC_STA_MST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랑 비교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다를 경우 수정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8895194"/>
                  </a:ext>
                </a:extLst>
              </a:tr>
            </a:tbl>
          </a:graphicData>
        </a:graphic>
      </p:graphicFrame>
      <p:cxnSp>
        <p:nvCxnSpPr>
          <p:cNvPr id="8" name="AutoShape 29">
            <a:extLst>
              <a:ext uri="{FF2B5EF4-FFF2-40B4-BE49-F238E27FC236}">
                <a16:creationId xmlns:a16="http://schemas.microsoft.com/office/drawing/2014/main" id="{CED7C3EA-DFA5-473C-93BC-E450661AFF30}"/>
              </a:ext>
            </a:extLst>
          </p:cNvPr>
          <p:cNvCxnSpPr>
            <a:cxnSpLocks noChangeShapeType="1"/>
            <a:stCxn id="7" idx="2"/>
            <a:endCxn id="9" idx="4"/>
          </p:cNvCxnSpPr>
          <p:nvPr/>
        </p:nvCxnSpPr>
        <p:spPr bwMode="auto">
          <a:xfrm rot="10800000" flipV="1">
            <a:off x="2123729" y="3538438"/>
            <a:ext cx="945815" cy="923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" name="순서도: 자기 디스크 164">
            <a:extLst>
              <a:ext uri="{FF2B5EF4-FFF2-40B4-BE49-F238E27FC236}">
                <a16:creationId xmlns:a16="http://schemas.microsoft.com/office/drawing/2014/main" id="{A89A5E48-8C5E-41A4-8C3C-23B9016362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7072" y="3369080"/>
            <a:ext cx="1186656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>
                <a:latin typeface="굴림" panose="020B0600000101010101" pitchFamily="50" charset="-127"/>
              </a:rPr>
              <a:t>MC_STA_MST</a:t>
            </a:r>
          </a:p>
        </p:txBody>
      </p:sp>
      <p:sp>
        <p:nvSpPr>
          <p:cNvPr id="7" name="순서도: 자기 디스크 164">
            <a:extLst>
              <a:ext uri="{FF2B5EF4-FFF2-40B4-BE49-F238E27FC236}">
                <a16:creationId xmlns:a16="http://schemas.microsoft.com/office/drawing/2014/main" id="{B9B002D0-55FB-43D6-8964-1E23E406E7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9543" y="3359844"/>
            <a:ext cx="1186657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굴림" panose="020B0600000101010101" pitchFamily="50" charset="-127"/>
              </a:rPr>
              <a:t>IF_MC_STA</a:t>
            </a:r>
          </a:p>
        </p:txBody>
      </p:sp>
      <p:sp>
        <p:nvSpPr>
          <p:cNvPr id="10" name="AutoShape 37">
            <a:extLst>
              <a:ext uri="{FF2B5EF4-FFF2-40B4-BE49-F238E27FC236}">
                <a16:creationId xmlns:a16="http://schemas.microsoft.com/office/drawing/2014/main" id="{26C4D6A5-B8B4-4E2B-9645-8099EBFF64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64647" y="3365509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11" name="Arc 91">
            <a:extLst>
              <a:ext uri="{FF2B5EF4-FFF2-40B4-BE49-F238E27FC236}">
                <a16:creationId xmlns:a16="http://schemas.microsoft.com/office/drawing/2014/main" id="{8DC3540B-15D9-442C-8C5D-A1AD9AA7AC4F}"/>
              </a:ext>
            </a:extLst>
          </p:cNvPr>
          <p:cNvSpPr>
            <a:spLocks/>
          </p:cNvSpPr>
          <p:nvPr/>
        </p:nvSpPr>
        <p:spPr bwMode="auto">
          <a:xfrm>
            <a:off x="2782969" y="3200500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</p:spTree>
    <p:extLst>
      <p:ext uri="{BB962C8B-B14F-4D97-AF65-F5344CB8AC3E}">
        <p14:creationId xmlns:p14="http://schemas.microsoft.com/office/powerpoint/2010/main" val="3524203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4. Interface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흐름도 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(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작업 지시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)</a:t>
            </a:r>
            <a:endParaRPr lang="ko-KR" altLang="en-US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209B8D-5CFF-4565-8184-7872CE56D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638916"/>
              </p:ext>
            </p:extLst>
          </p:nvPr>
        </p:nvGraphicFramePr>
        <p:xfrm>
          <a:off x="490905" y="908721"/>
          <a:ext cx="8487729" cy="4496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831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443391">
                  <a:extLst>
                    <a:ext uri="{9D8B030D-6E8A-4147-A177-3AD203B41FA5}">
                      <a16:colId xmlns:a16="http://schemas.microsoft.com/office/drawing/2014/main" val="606864026"/>
                    </a:ext>
                  </a:extLst>
                </a:gridCol>
                <a:gridCol w="1440873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117488022"/>
                    </a:ext>
                  </a:extLst>
                </a:gridCol>
                <a:gridCol w="650043">
                  <a:extLst>
                    <a:ext uri="{9D8B030D-6E8A-4147-A177-3AD203B41FA5}">
                      <a16:colId xmlns:a16="http://schemas.microsoft.com/office/drawing/2014/main" val="2172545123"/>
                    </a:ext>
                  </a:extLst>
                </a:gridCol>
                <a:gridCol w="639192">
                  <a:extLst>
                    <a:ext uri="{9D8B030D-6E8A-4147-A177-3AD203B41FA5}">
                      <a16:colId xmlns:a16="http://schemas.microsoft.com/office/drawing/2014/main" val="3751964056"/>
                    </a:ext>
                  </a:extLst>
                </a:gridCol>
                <a:gridCol w="514905">
                  <a:extLst>
                    <a:ext uri="{9D8B030D-6E8A-4147-A177-3AD203B41FA5}">
                      <a16:colId xmlns:a16="http://schemas.microsoft.com/office/drawing/2014/main" val="1144541321"/>
                    </a:ext>
                  </a:extLst>
                </a:gridCol>
                <a:gridCol w="532660">
                  <a:extLst>
                    <a:ext uri="{9D8B030D-6E8A-4147-A177-3AD203B41FA5}">
                      <a16:colId xmlns:a16="http://schemas.microsoft.com/office/drawing/2014/main" val="2305172229"/>
                    </a:ext>
                  </a:extLst>
                </a:gridCol>
                <a:gridCol w="749034">
                  <a:extLst>
                    <a:ext uri="{9D8B030D-6E8A-4147-A177-3AD203B41FA5}">
                      <a16:colId xmlns:a16="http://schemas.microsoft.com/office/drawing/2014/main" val="394140566"/>
                    </a:ext>
                  </a:extLst>
                </a:gridCol>
              </a:tblGrid>
              <a:tr h="28549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000" b="1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52956">
                <a:tc rowSpan="8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8">
                  <a:txBody>
                    <a:bodyPr/>
                    <a:lstStyle/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주요 항목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PICKING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RACK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호기간 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3887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LUGGNO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채번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다만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9000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번대는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반자동작업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761605"/>
                  </a:ext>
                </a:extLst>
              </a:tr>
              <a:tr h="3887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JOB_KIND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0512941"/>
                  </a:ext>
                </a:extLst>
              </a:tr>
              <a:tr h="48531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LD_CTN_NO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PICKING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RACK PLT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호기간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95690"/>
                  </a:ext>
                </a:extLst>
              </a:tr>
              <a:tr h="48531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FROM_CV_NO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작업대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H/S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H/S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strike="sngStrike" dirty="0">
                        <a:solidFill>
                          <a:srgbClr val="FF0000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작업대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3313188"/>
                  </a:ext>
                </a:extLst>
              </a:tr>
              <a:tr h="48531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TO_CV_NO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H/S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strike="sngStrike" dirty="0">
                        <a:solidFill>
                          <a:srgbClr val="FF0000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작업대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1013919"/>
                  </a:ext>
                </a:extLst>
              </a:tr>
              <a:tr h="6176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FROM_SC_NO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180971"/>
                  </a:ext>
                </a:extLst>
              </a:tr>
              <a:tr h="6176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TO_SC_NO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0871789"/>
                  </a:ext>
                </a:extLst>
              </a:tr>
            </a:tbl>
          </a:graphicData>
        </a:graphic>
      </p:graphicFrame>
      <p:sp>
        <p:nvSpPr>
          <p:cNvPr id="5" name="AutoShape 27">
            <a:extLst>
              <a:ext uri="{FF2B5EF4-FFF2-40B4-BE49-F238E27FC236}">
                <a16:creationId xmlns:a16="http://schemas.microsoft.com/office/drawing/2014/main" id="{7F81E679-FD83-4B67-99E5-2F3C3DDAC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339" y="2871651"/>
            <a:ext cx="1001713" cy="216024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작업지시</a:t>
            </a:r>
          </a:p>
        </p:txBody>
      </p:sp>
      <p:sp>
        <p:nvSpPr>
          <p:cNvPr id="8" name="순서도: 자기 디스크 164">
            <a:extLst>
              <a:ext uri="{FF2B5EF4-FFF2-40B4-BE49-F238E27FC236}">
                <a16:creationId xmlns:a16="http://schemas.microsoft.com/office/drawing/2014/main" id="{C63C68D9-8C10-490A-A1BA-C6A73D6465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776" y="3284984"/>
            <a:ext cx="1072283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sp>
        <p:nvSpPr>
          <p:cNvPr id="7" name="순서도: 자기 디스크 164">
            <a:extLst>
              <a:ext uri="{FF2B5EF4-FFF2-40B4-BE49-F238E27FC236}">
                <a16:creationId xmlns:a16="http://schemas.microsoft.com/office/drawing/2014/main" id="{4CC91738-C2A2-4D25-8B41-4780C2D5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703" y="3284984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F64F8B3-848F-412B-8C3E-7A97C60B7381}"/>
              </a:ext>
            </a:extLst>
          </p:cNvPr>
          <p:cNvCxnSpPr>
            <a:cxnSpLocks/>
            <a:stCxn id="7" idx="4"/>
            <a:endCxn id="8" idx="2"/>
          </p:cNvCxnSpPr>
          <p:nvPr/>
        </p:nvCxnSpPr>
        <p:spPr bwMode="auto">
          <a:xfrm>
            <a:off x="1763688" y="3463578"/>
            <a:ext cx="792088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33" name="AutoShape 37">
            <a:extLst>
              <a:ext uri="{FF2B5EF4-FFF2-40B4-BE49-F238E27FC236}">
                <a16:creationId xmlns:a16="http://schemas.microsoft.com/office/drawing/2014/main" id="{FA36B9F0-1C79-4EF1-BD22-E3212A64F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6792" y="3284984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13" name="Arc 91">
            <a:extLst>
              <a:ext uri="{FF2B5EF4-FFF2-40B4-BE49-F238E27FC236}">
                <a16:creationId xmlns:a16="http://schemas.microsoft.com/office/drawing/2014/main" id="{4C71D697-987F-4A84-90CC-3C5EADFB7821}"/>
              </a:ext>
            </a:extLst>
          </p:cNvPr>
          <p:cNvSpPr>
            <a:spLocks/>
          </p:cNvSpPr>
          <p:nvPr/>
        </p:nvSpPr>
        <p:spPr bwMode="auto">
          <a:xfrm>
            <a:off x="2335114" y="3119975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27735D0A-307A-4CAA-9860-13DAAB9E4863}"/>
              </a:ext>
            </a:extLst>
          </p:cNvPr>
          <p:cNvCxnSpPr>
            <a:cxnSpLocks/>
            <a:stCxn id="5" idx="2"/>
            <a:endCxn id="7" idx="1"/>
          </p:cNvCxnSpPr>
          <p:nvPr/>
        </p:nvCxnSpPr>
        <p:spPr bwMode="auto">
          <a:xfrm>
            <a:off x="1219196" y="3087675"/>
            <a:ext cx="0" cy="197309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93393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4. Interface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흐름도 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(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작업 지시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)</a:t>
            </a:r>
            <a:endParaRPr lang="ko-KR" altLang="en-US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209B8D-5CFF-4565-8184-7872CE56D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202287"/>
              </p:ext>
            </p:extLst>
          </p:nvPr>
        </p:nvGraphicFramePr>
        <p:xfrm>
          <a:off x="490905" y="908721"/>
          <a:ext cx="8487729" cy="4496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831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805180">
                  <a:extLst>
                    <a:ext uri="{9D8B030D-6E8A-4147-A177-3AD203B41FA5}">
                      <a16:colId xmlns:a16="http://schemas.microsoft.com/office/drawing/2014/main" val="606864026"/>
                    </a:ext>
                  </a:extLst>
                </a:gridCol>
                <a:gridCol w="1208393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800874">
                  <a:extLst>
                    <a:ext uri="{9D8B030D-6E8A-4147-A177-3AD203B41FA5}">
                      <a16:colId xmlns:a16="http://schemas.microsoft.com/office/drawing/2014/main" val="1117488022"/>
                    </a:ext>
                  </a:extLst>
                </a:gridCol>
                <a:gridCol w="532660">
                  <a:extLst>
                    <a:ext uri="{9D8B030D-6E8A-4147-A177-3AD203B41FA5}">
                      <a16:colId xmlns:a16="http://schemas.microsoft.com/office/drawing/2014/main" val="2172545123"/>
                    </a:ext>
                  </a:extLst>
                </a:gridCol>
                <a:gridCol w="639192">
                  <a:extLst>
                    <a:ext uri="{9D8B030D-6E8A-4147-A177-3AD203B41FA5}">
                      <a16:colId xmlns:a16="http://schemas.microsoft.com/office/drawing/2014/main" val="3751964056"/>
                    </a:ext>
                  </a:extLst>
                </a:gridCol>
                <a:gridCol w="514905">
                  <a:extLst>
                    <a:ext uri="{9D8B030D-6E8A-4147-A177-3AD203B41FA5}">
                      <a16:colId xmlns:a16="http://schemas.microsoft.com/office/drawing/2014/main" val="1144541321"/>
                    </a:ext>
                  </a:extLst>
                </a:gridCol>
                <a:gridCol w="532660">
                  <a:extLst>
                    <a:ext uri="{9D8B030D-6E8A-4147-A177-3AD203B41FA5}">
                      <a16:colId xmlns:a16="http://schemas.microsoft.com/office/drawing/2014/main" val="2305172229"/>
                    </a:ext>
                  </a:extLst>
                </a:gridCol>
                <a:gridCol w="749034">
                  <a:extLst>
                    <a:ext uri="{9D8B030D-6E8A-4147-A177-3AD203B41FA5}">
                      <a16:colId xmlns:a16="http://schemas.microsoft.com/office/drawing/2014/main" val="394140566"/>
                    </a:ext>
                  </a:extLst>
                </a:gridCol>
              </a:tblGrid>
              <a:tr h="28549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000" b="1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52956">
                <a:tc rowSpan="6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6">
                  <a:txBody>
                    <a:bodyPr/>
                    <a:lstStyle/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주요 항목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PICKING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RACK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호기간 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6176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FROM_AREA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461838"/>
                  </a:ext>
                </a:extLst>
              </a:tr>
              <a:tr h="6176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TO_AREA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3412734"/>
                  </a:ext>
                </a:extLst>
              </a:tr>
              <a:tr h="3887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WORK_STA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155791"/>
                  </a:ext>
                </a:extLst>
              </a:tr>
              <a:tr h="6176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PRIRITY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우선순위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(Mid : 100)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0158336"/>
                  </a:ext>
                </a:extLst>
              </a:tr>
              <a:tr h="83570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수신 시스템에서 수정 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UPD_DT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컬럼에 수정일시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Update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우선순위는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Default 100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이며 큰 숫자일 수록 우선 작업을 요함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   SC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1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=&gt; 901, 2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=&gt; 902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2359208"/>
                  </a:ext>
                </a:extLst>
              </a:tr>
            </a:tbl>
          </a:graphicData>
        </a:graphic>
      </p:graphicFrame>
      <p:sp>
        <p:nvSpPr>
          <p:cNvPr id="5" name="AutoShape 27">
            <a:extLst>
              <a:ext uri="{FF2B5EF4-FFF2-40B4-BE49-F238E27FC236}">
                <a16:creationId xmlns:a16="http://schemas.microsoft.com/office/drawing/2014/main" id="{7F81E679-FD83-4B67-99E5-2F3C3DDAC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339" y="2871651"/>
            <a:ext cx="1001713" cy="216024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작업지시</a:t>
            </a:r>
          </a:p>
        </p:txBody>
      </p:sp>
      <p:sp>
        <p:nvSpPr>
          <p:cNvPr id="8" name="순서도: 자기 디스크 164">
            <a:extLst>
              <a:ext uri="{FF2B5EF4-FFF2-40B4-BE49-F238E27FC236}">
                <a16:creationId xmlns:a16="http://schemas.microsoft.com/office/drawing/2014/main" id="{C63C68D9-8C10-490A-A1BA-C6A73D6465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776" y="3284984"/>
            <a:ext cx="1072283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sp>
        <p:nvSpPr>
          <p:cNvPr id="7" name="순서도: 자기 디스크 164">
            <a:extLst>
              <a:ext uri="{FF2B5EF4-FFF2-40B4-BE49-F238E27FC236}">
                <a16:creationId xmlns:a16="http://schemas.microsoft.com/office/drawing/2014/main" id="{4CC91738-C2A2-4D25-8B41-4780C2D5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703" y="3284984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F64F8B3-848F-412B-8C3E-7A97C60B7381}"/>
              </a:ext>
            </a:extLst>
          </p:cNvPr>
          <p:cNvCxnSpPr>
            <a:cxnSpLocks/>
            <a:stCxn id="7" idx="4"/>
            <a:endCxn id="8" idx="2"/>
          </p:cNvCxnSpPr>
          <p:nvPr/>
        </p:nvCxnSpPr>
        <p:spPr bwMode="auto">
          <a:xfrm>
            <a:off x="1763688" y="3463578"/>
            <a:ext cx="792088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33" name="AutoShape 37">
            <a:extLst>
              <a:ext uri="{FF2B5EF4-FFF2-40B4-BE49-F238E27FC236}">
                <a16:creationId xmlns:a16="http://schemas.microsoft.com/office/drawing/2014/main" id="{FA36B9F0-1C79-4EF1-BD22-E3212A64F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6792" y="3284984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13" name="Arc 91">
            <a:extLst>
              <a:ext uri="{FF2B5EF4-FFF2-40B4-BE49-F238E27FC236}">
                <a16:creationId xmlns:a16="http://schemas.microsoft.com/office/drawing/2014/main" id="{4C71D697-987F-4A84-90CC-3C5EADFB7821}"/>
              </a:ext>
            </a:extLst>
          </p:cNvPr>
          <p:cNvSpPr>
            <a:spLocks/>
          </p:cNvSpPr>
          <p:nvPr/>
        </p:nvSpPr>
        <p:spPr bwMode="auto">
          <a:xfrm>
            <a:off x="2335114" y="3119975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27735D0A-307A-4CAA-9860-13DAAB9E4863}"/>
              </a:ext>
            </a:extLst>
          </p:cNvPr>
          <p:cNvCxnSpPr>
            <a:cxnSpLocks/>
            <a:stCxn id="5" idx="2"/>
            <a:endCxn id="7" idx="1"/>
          </p:cNvCxnSpPr>
          <p:nvPr/>
        </p:nvCxnSpPr>
        <p:spPr bwMode="auto">
          <a:xfrm>
            <a:off x="1219196" y="3087675"/>
            <a:ext cx="0" cy="197309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37887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4. Interface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흐름도 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(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작업 완료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)</a:t>
            </a:r>
            <a:endParaRPr lang="ko-KR" altLang="en-US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209B8D-5CFF-4565-8184-7872CE56D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5336339"/>
              </p:ext>
            </p:extLst>
          </p:nvPr>
        </p:nvGraphicFramePr>
        <p:xfrm>
          <a:off x="490904" y="908720"/>
          <a:ext cx="8339061" cy="4496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7672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277132">
                  <a:extLst>
                    <a:ext uri="{9D8B030D-6E8A-4147-A177-3AD203B41FA5}">
                      <a16:colId xmlns:a16="http://schemas.microsoft.com/office/drawing/2014/main" val="606864026"/>
                    </a:ext>
                  </a:extLst>
                </a:gridCol>
                <a:gridCol w="969820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748145">
                  <a:extLst>
                    <a:ext uri="{9D8B030D-6E8A-4147-A177-3AD203B41FA5}">
                      <a16:colId xmlns:a16="http://schemas.microsoft.com/office/drawing/2014/main" val="1117488022"/>
                    </a:ext>
                  </a:extLst>
                </a:gridCol>
                <a:gridCol w="1006764">
                  <a:extLst>
                    <a:ext uri="{9D8B030D-6E8A-4147-A177-3AD203B41FA5}">
                      <a16:colId xmlns:a16="http://schemas.microsoft.com/office/drawing/2014/main" val="2172545123"/>
                    </a:ext>
                  </a:extLst>
                </a:gridCol>
                <a:gridCol w="701964">
                  <a:extLst>
                    <a:ext uri="{9D8B030D-6E8A-4147-A177-3AD203B41FA5}">
                      <a16:colId xmlns:a16="http://schemas.microsoft.com/office/drawing/2014/main" val="1633445243"/>
                    </a:ext>
                  </a:extLst>
                </a:gridCol>
                <a:gridCol w="720436">
                  <a:extLst>
                    <a:ext uri="{9D8B030D-6E8A-4147-A177-3AD203B41FA5}">
                      <a16:colId xmlns:a16="http://schemas.microsoft.com/office/drawing/2014/main" val="2783187271"/>
                    </a:ext>
                  </a:extLst>
                </a:gridCol>
                <a:gridCol w="744240">
                  <a:extLst>
                    <a:ext uri="{9D8B030D-6E8A-4147-A177-3AD203B41FA5}">
                      <a16:colId xmlns:a16="http://schemas.microsoft.com/office/drawing/2014/main" val="1999037915"/>
                    </a:ext>
                  </a:extLst>
                </a:gridCol>
                <a:gridCol w="862888">
                  <a:extLst>
                    <a:ext uri="{9D8B030D-6E8A-4147-A177-3AD203B41FA5}">
                      <a16:colId xmlns:a16="http://schemas.microsoft.com/office/drawing/2014/main" val="2637713628"/>
                    </a:ext>
                  </a:extLst>
                </a:gridCol>
              </a:tblGrid>
              <a:tr h="27745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000" b="1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80217">
                <a:tc rowSpan="6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6">
                  <a:txBody>
                    <a:bodyPr/>
                    <a:lstStyle/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주요 항목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PICKING </a:t>
                      </a:r>
                    </a:p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RACK </a:t>
                      </a:r>
                    </a:p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호기간 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43301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LUGGNO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761605"/>
                  </a:ext>
                </a:extLst>
              </a:tr>
              <a:tr h="43301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JOB_KIND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0512941"/>
                  </a:ext>
                </a:extLst>
              </a:tr>
              <a:tr h="43301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LD_CTN_NO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95690"/>
                  </a:ext>
                </a:extLst>
              </a:tr>
              <a:tr h="76091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WORK_STA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02-&gt;03-&gt;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09-&gt;11-&gt;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12-&gt;19-&gt;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-&gt;01-&gt;11-&gt;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12-&gt;19-&gt;02-&gt;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03-&gt;09-&gt;90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11-&gt;12-&gt;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19-&gt;02-&gt;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03-&gt;09-&gt;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90</a:t>
                      </a: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11-&gt;12-&gt;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19-&gt;90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11-&gt;12-&gt;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19-&gt;21-&gt;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22-&gt;29-&gt;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02-&gt;03-&gt;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09-&gt;11-&gt;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12-&gt;19-&gt;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02-&gt;03-&gt;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09-&gt;90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155791"/>
                  </a:ext>
                </a:extLst>
              </a:tr>
              <a:tr h="8660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9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[WORK_STA]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공통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&amp;CV: 00: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작업대기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01: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작업수신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02:CV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03:CV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작업중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09:CV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90: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정상완료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1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11: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12: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작업중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19 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2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21: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22: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작업중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29 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=&gt; WCS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 </a:t>
                      </a:r>
                      <a:r>
                        <a:rPr lang="ko-KR" altLang="en-US" sz="900" b="1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보고시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WCS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내부작업 삭제 후 정상완료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(90)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보고 </a:t>
                      </a:r>
                      <a:endParaRPr lang="en-US" altLang="ko-KR" sz="900" b="1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   =&gt;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추후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만 작업이 남게 되면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에서만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강제 완료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인터페이스 안함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]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처리  </a:t>
                      </a:r>
                      <a:endParaRPr lang="en-US" altLang="ko-KR" sz="900" b="1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2359208"/>
                  </a:ext>
                </a:extLst>
              </a:tr>
            </a:tbl>
          </a:graphicData>
        </a:graphic>
      </p:graphicFrame>
      <p:sp>
        <p:nvSpPr>
          <p:cNvPr id="5" name="AutoShape 27">
            <a:extLst>
              <a:ext uri="{FF2B5EF4-FFF2-40B4-BE49-F238E27FC236}">
                <a16:creationId xmlns:a16="http://schemas.microsoft.com/office/drawing/2014/main" id="{7F81E679-FD83-4B67-99E5-2F3C3DDAC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2671" y="2319792"/>
            <a:ext cx="1021972" cy="238125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 dirty="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작업 완료</a:t>
            </a:r>
          </a:p>
        </p:txBody>
      </p:sp>
      <p:sp>
        <p:nvSpPr>
          <p:cNvPr id="8" name="순서도: 자기 디스크 164">
            <a:extLst>
              <a:ext uri="{FF2B5EF4-FFF2-40B4-BE49-F238E27FC236}">
                <a16:creationId xmlns:a16="http://schemas.microsoft.com/office/drawing/2014/main" id="{C63C68D9-8C10-490A-A1BA-C6A73D6465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7597" y="2968366"/>
            <a:ext cx="1052121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sp>
        <p:nvSpPr>
          <p:cNvPr id="7" name="순서도: 자기 디스크 164">
            <a:extLst>
              <a:ext uri="{FF2B5EF4-FFF2-40B4-BE49-F238E27FC236}">
                <a16:creationId xmlns:a16="http://schemas.microsoft.com/office/drawing/2014/main" id="{4CC91738-C2A2-4D25-8B41-4780C2D5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504" y="2968366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LUGG_MST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F64F8B3-848F-412B-8C3E-7A97C60B7381}"/>
              </a:ext>
            </a:extLst>
          </p:cNvPr>
          <p:cNvCxnSpPr>
            <a:cxnSpLocks/>
            <a:stCxn id="8" idx="2"/>
            <a:endCxn id="7" idx="4"/>
          </p:cNvCxnSpPr>
          <p:nvPr/>
        </p:nvCxnSpPr>
        <p:spPr bwMode="auto">
          <a:xfrm flipH="1">
            <a:off x="1681489" y="3146960"/>
            <a:ext cx="266108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33" name="AutoShape 37">
            <a:extLst>
              <a:ext uri="{FF2B5EF4-FFF2-40B4-BE49-F238E27FC236}">
                <a16:creationId xmlns:a16="http://schemas.microsoft.com/office/drawing/2014/main" id="{FA36B9F0-1C79-4EF1-BD22-E3212A64F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7343" y="2688224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13" name="Arc 91">
            <a:extLst>
              <a:ext uri="{FF2B5EF4-FFF2-40B4-BE49-F238E27FC236}">
                <a16:creationId xmlns:a16="http://schemas.microsoft.com/office/drawing/2014/main" id="{4C71D697-987F-4A84-90CC-3C5EADFB7821}"/>
              </a:ext>
            </a:extLst>
          </p:cNvPr>
          <p:cNvSpPr>
            <a:spLocks/>
          </p:cNvSpPr>
          <p:nvPr/>
        </p:nvSpPr>
        <p:spPr bwMode="auto">
          <a:xfrm>
            <a:off x="2079161" y="2574461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145FB6E7-1976-4CF2-8090-DD9F73FE5BD4}"/>
              </a:ext>
            </a:extLst>
          </p:cNvPr>
          <p:cNvCxnSpPr>
            <a:cxnSpLocks/>
            <a:stCxn id="5" idx="2"/>
            <a:endCxn id="8" idx="1"/>
          </p:cNvCxnSpPr>
          <p:nvPr/>
        </p:nvCxnSpPr>
        <p:spPr bwMode="auto">
          <a:xfrm>
            <a:off x="2473657" y="2557917"/>
            <a:ext cx="1" cy="410449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721912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4. Interface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흐름도 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(</a:t>
            </a:r>
            <a:r>
              <a:rPr lang="ko-KR" altLang="en-US" err="1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설비에러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 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–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이중입고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, </a:t>
            </a:r>
            <a:r>
              <a:rPr lang="ko-KR" altLang="en-US" err="1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공출고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)</a:t>
            </a:r>
            <a:endParaRPr lang="ko-KR" altLang="en-US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209B8D-5CFF-4565-8184-7872CE56D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3283290"/>
              </p:ext>
            </p:extLst>
          </p:nvPr>
        </p:nvGraphicFramePr>
        <p:xfrm>
          <a:off x="490905" y="908720"/>
          <a:ext cx="8487727" cy="4825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831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805180">
                  <a:extLst>
                    <a:ext uri="{9D8B030D-6E8A-4147-A177-3AD203B41FA5}">
                      <a16:colId xmlns:a16="http://schemas.microsoft.com/office/drawing/2014/main" val="606864026"/>
                    </a:ext>
                  </a:extLst>
                </a:gridCol>
                <a:gridCol w="1659239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1659238">
                  <a:extLst>
                    <a:ext uri="{9D8B030D-6E8A-4147-A177-3AD203B41FA5}">
                      <a16:colId xmlns:a16="http://schemas.microsoft.com/office/drawing/2014/main" val="1117488022"/>
                    </a:ext>
                  </a:extLst>
                </a:gridCol>
                <a:gridCol w="1659239">
                  <a:extLst>
                    <a:ext uri="{9D8B030D-6E8A-4147-A177-3AD203B41FA5}">
                      <a16:colId xmlns:a16="http://schemas.microsoft.com/office/drawing/2014/main" val="2172545123"/>
                    </a:ext>
                  </a:extLst>
                </a:gridCol>
              </a:tblGrid>
              <a:tr h="33704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000" b="1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19235">
                <a:tc rowSpan="6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6">
                  <a:txBody>
                    <a:bodyPr/>
                    <a:lstStyle/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주요 항목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 -&gt; WMS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상황 전송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 -&gt; WCS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처리 전송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36975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en-US" altLang="ko-KR" sz="900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LUGGNO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761605"/>
                  </a:ext>
                </a:extLst>
              </a:tr>
              <a:tr h="416689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en-US" altLang="ko-KR" sz="900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TO_AREA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AREA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NEW AREA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0512941"/>
                  </a:ext>
                </a:extLst>
              </a:tr>
              <a:tr h="49330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en-US" altLang="ko-KR" sz="900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cs typeface="+mn-cs"/>
                        </a:rPr>
                        <a:t>WORK_STA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155791"/>
                  </a:ext>
                </a:extLst>
              </a:tr>
              <a:tr h="49330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en-US" altLang="ko-KR" sz="900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cs typeface="+mn-cs"/>
                        </a:rPr>
                        <a:t>ERRCODE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60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64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입고장애 </a:t>
                      </a:r>
                      <a:r>
                        <a:rPr lang="en-US" altLang="ko-KR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56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출고장애</a:t>
                      </a:r>
                      <a:r>
                        <a:rPr lang="en-US" altLang="ko-KR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: 57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60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64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입고장애 </a:t>
                      </a:r>
                      <a:r>
                        <a:rPr lang="en-US" altLang="ko-KR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56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출고장애</a:t>
                      </a:r>
                      <a:r>
                        <a:rPr lang="en-US" altLang="ko-KR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: 57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2359208"/>
                  </a:ext>
                </a:extLst>
              </a:tr>
              <a:tr h="22490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en-US" altLang="ko-KR" sz="900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 발생시 동일 작업의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회 까지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Location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시스템 자동 재지정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.(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이후 작업자가 직접처리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가 이중입고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COUNT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를 하고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회 이상 발생 시 알람 표시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[WORK_STA]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98: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이상처리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99: ERROR(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이상처리 흐름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]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-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WCS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송신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수신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 WMS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에서 저장위치 변경 후 작업정보 송신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                    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작업정보 수신 후 입고작업 재 시도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-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WCS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송신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 WMS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에러 수신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 WMS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 삭제 후 상태정보 송신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                 WCS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이상처리 수신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 WCS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작업삭제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6863568"/>
                  </a:ext>
                </a:extLst>
              </a:tr>
            </a:tbl>
          </a:graphicData>
        </a:graphic>
      </p:graphicFrame>
      <p:sp>
        <p:nvSpPr>
          <p:cNvPr id="5" name="AutoShape 27">
            <a:extLst>
              <a:ext uri="{FF2B5EF4-FFF2-40B4-BE49-F238E27FC236}">
                <a16:creationId xmlns:a16="http://schemas.microsoft.com/office/drawing/2014/main" id="{7F81E679-FD83-4B67-99E5-2F3C3DDAC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474" y="3192091"/>
            <a:ext cx="1652986" cy="430832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이중입고 </a:t>
            </a:r>
            <a:r>
              <a:rPr lang="en-US" altLang="ko-KR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: </a:t>
            </a:r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입고지시정보 생성</a:t>
            </a:r>
            <a:endParaRPr lang="en-US" altLang="ko-KR" sz="1000">
              <a:solidFill>
                <a:schemeClr val="bg1"/>
              </a:solidFill>
              <a:latin typeface="맑은 고딕 (본문)"/>
              <a:ea typeface="Noto Sans CJK KR Regular" panose="020B0500000000000000" pitchFamily="34" charset="-127"/>
            </a:endParaRPr>
          </a:p>
          <a:p>
            <a:pPr algn="ctr"/>
            <a:r>
              <a:rPr lang="ko-KR" altLang="en-US" sz="1000" err="1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공출고</a:t>
            </a:r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 </a:t>
            </a:r>
            <a:r>
              <a:rPr lang="en-US" altLang="ko-KR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: </a:t>
            </a:r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작업삭제</a:t>
            </a:r>
            <a:r>
              <a:rPr lang="en-US" altLang="ko-KR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 </a:t>
            </a:r>
            <a:endParaRPr lang="ko-KR" altLang="en-US" sz="1000">
              <a:solidFill>
                <a:schemeClr val="bg1"/>
              </a:solidFill>
              <a:latin typeface="맑은 고딕 (본문)"/>
              <a:ea typeface="Noto Sans CJK KR Regular" panose="020B0500000000000000" pitchFamily="34" charset="-127"/>
            </a:endParaRPr>
          </a:p>
        </p:txBody>
      </p:sp>
      <p:sp>
        <p:nvSpPr>
          <p:cNvPr id="8" name="순서도: 자기 디스크 164">
            <a:extLst>
              <a:ext uri="{FF2B5EF4-FFF2-40B4-BE49-F238E27FC236}">
                <a16:creationId xmlns:a16="http://schemas.microsoft.com/office/drawing/2014/main" id="{C63C68D9-8C10-490A-A1BA-C6A73D6465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776" y="2402856"/>
            <a:ext cx="1052121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sp>
        <p:nvSpPr>
          <p:cNvPr id="7" name="순서도: 자기 디스크 164">
            <a:extLst>
              <a:ext uri="{FF2B5EF4-FFF2-40B4-BE49-F238E27FC236}">
                <a16:creationId xmlns:a16="http://schemas.microsoft.com/office/drawing/2014/main" id="{4CC91738-C2A2-4D25-8B41-4780C2D5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703" y="2402856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F64F8B3-848F-412B-8C3E-7A97C60B7381}"/>
              </a:ext>
            </a:extLst>
          </p:cNvPr>
          <p:cNvCxnSpPr>
            <a:cxnSpLocks/>
            <a:stCxn id="8" idx="2"/>
            <a:endCxn id="7" idx="4"/>
          </p:cNvCxnSpPr>
          <p:nvPr/>
        </p:nvCxnSpPr>
        <p:spPr bwMode="auto">
          <a:xfrm flipH="1">
            <a:off x="1763688" y="2581450"/>
            <a:ext cx="792088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33" name="AutoShape 37">
            <a:extLst>
              <a:ext uri="{FF2B5EF4-FFF2-40B4-BE49-F238E27FC236}">
                <a16:creationId xmlns:a16="http://schemas.microsoft.com/office/drawing/2014/main" id="{FA36B9F0-1C79-4EF1-BD22-E3212A64F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6792" y="2402856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13" name="Arc 91">
            <a:extLst>
              <a:ext uri="{FF2B5EF4-FFF2-40B4-BE49-F238E27FC236}">
                <a16:creationId xmlns:a16="http://schemas.microsoft.com/office/drawing/2014/main" id="{4C71D697-987F-4A84-90CC-3C5EADFB7821}"/>
              </a:ext>
            </a:extLst>
          </p:cNvPr>
          <p:cNvSpPr>
            <a:spLocks/>
          </p:cNvSpPr>
          <p:nvPr/>
        </p:nvSpPr>
        <p:spPr bwMode="auto">
          <a:xfrm>
            <a:off x="2335114" y="2237847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  <p:sp>
        <p:nvSpPr>
          <p:cNvPr id="14" name="AutoShape 27">
            <a:extLst>
              <a:ext uri="{FF2B5EF4-FFF2-40B4-BE49-F238E27FC236}">
                <a16:creationId xmlns:a16="http://schemas.microsoft.com/office/drawing/2014/main" id="{CD976F12-5165-4E4C-8919-9A142BCA3A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776" y="1857665"/>
            <a:ext cx="1001713" cy="216024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>
                <a:solidFill>
                  <a:schemeClr val="bg1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에러 상황 발생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F44DEE4-03C7-4F36-9AA7-590E35497284}"/>
              </a:ext>
            </a:extLst>
          </p:cNvPr>
          <p:cNvCxnSpPr>
            <a:cxnSpLocks/>
            <a:stCxn id="14" idx="2"/>
          </p:cNvCxnSpPr>
          <p:nvPr/>
        </p:nvCxnSpPr>
        <p:spPr bwMode="auto">
          <a:xfrm>
            <a:off x="3056633" y="2073689"/>
            <a:ext cx="0" cy="329167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21" name="순서도: 자기 디스크 164">
            <a:extLst>
              <a:ext uri="{FF2B5EF4-FFF2-40B4-BE49-F238E27FC236}">
                <a16:creationId xmlns:a16="http://schemas.microsoft.com/office/drawing/2014/main" id="{90B13A30-28C7-4097-A77F-6426417BD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776" y="4194806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sp>
        <p:nvSpPr>
          <p:cNvPr id="22" name="순서도: 자기 디스크 164">
            <a:extLst>
              <a:ext uri="{FF2B5EF4-FFF2-40B4-BE49-F238E27FC236}">
                <a16:creationId xmlns:a16="http://schemas.microsoft.com/office/drawing/2014/main" id="{0C0F66AA-602E-4047-A3B6-54C77C98D2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703" y="4194806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00908165-3338-4B57-8C14-1206A345DCD0}"/>
              </a:ext>
            </a:extLst>
          </p:cNvPr>
          <p:cNvCxnSpPr>
            <a:cxnSpLocks/>
            <a:stCxn id="22" idx="4"/>
            <a:endCxn id="21" idx="2"/>
          </p:cNvCxnSpPr>
          <p:nvPr/>
        </p:nvCxnSpPr>
        <p:spPr bwMode="auto">
          <a:xfrm>
            <a:off x="1763688" y="4373400"/>
            <a:ext cx="792088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24" name="AutoShape 37">
            <a:extLst>
              <a:ext uri="{FF2B5EF4-FFF2-40B4-BE49-F238E27FC236}">
                <a16:creationId xmlns:a16="http://schemas.microsoft.com/office/drawing/2014/main" id="{7331569F-02C2-44F6-92DE-82711EA5E0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6792" y="4194806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25" name="Arc 91">
            <a:extLst>
              <a:ext uri="{FF2B5EF4-FFF2-40B4-BE49-F238E27FC236}">
                <a16:creationId xmlns:a16="http://schemas.microsoft.com/office/drawing/2014/main" id="{DD0F613D-07FA-45F4-A255-017C637AB5BA}"/>
              </a:ext>
            </a:extLst>
          </p:cNvPr>
          <p:cNvSpPr>
            <a:spLocks/>
          </p:cNvSpPr>
          <p:nvPr/>
        </p:nvSpPr>
        <p:spPr bwMode="auto">
          <a:xfrm>
            <a:off x="2335114" y="4029797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B8A6617-5823-49CE-B8CC-41FB97294765}"/>
              </a:ext>
            </a:extLst>
          </p:cNvPr>
          <p:cNvCxnSpPr>
            <a:cxnSpLocks/>
            <a:endCxn id="5" idx="0"/>
          </p:cNvCxnSpPr>
          <p:nvPr/>
        </p:nvCxnSpPr>
        <p:spPr bwMode="auto">
          <a:xfrm>
            <a:off x="1342967" y="2760043"/>
            <a:ext cx="0" cy="432048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19855BEE-C80F-4861-B1A4-D388B7BF0497}"/>
              </a:ext>
            </a:extLst>
          </p:cNvPr>
          <p:cNvCxnSpPr>
            <a:cxnSpLocks/>
            <a:stCxn id="5" idx="2"/>
          </p:cNvCxnSpPr>
          <p:nvPr/>
        </p:nvCxnSpPr>
        <p:spPr bwMode="auto">
          <a:xfrm flipH="1">
            <a:off x="1342417" y="3622923"/>
            <a:ext cx="550" cy="568385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34" name="AutoShape 27">
            <a:extLst>
              <a:ext uri="{FF2B5EF4-FFF2-40B4-BE49-F238E27FC236}">
                <a16:creationId xmlns:a16="http://schemas.microsoft.com/office/drawing/2014/main" id="{6FA44341-79F1-4DD9-8059-C1089DBDDB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6184" y="4869160"/>
            <a:ext cx="1001713" cy="216024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>
                <a:solidFill>
                  <a:schemeClr val="bg1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조치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B91A8CA-674F-483C-8DF0-1F6609A3B37B}"/>
              </a:ext>
            </a:extLst>
          </p:cNvPr>
          <p:cNvCxnSpPr>
            <a:cxnSpLocks/>
            <a:stCxn id="21" idx="3"/>
            <a:endCxn id="34" idx="0"/>
          </p:cNvCxnSpPr>
          <p:nvPr/>
        </p:nvCxnSpPr>
        <p:spPr bwMode="auto">
          <a:xfrm>
            <a:off x="3100269" y="4551993"/>
            <a:ext cx="6772" cy="317167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6772239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2">
            <a:extLst>
              <a:ext uri="{FF2B5EF4-FFF2-40B4-BE49-F238E27FC236}">
                <a16:creationId xmlns:a16="http://schemas.microsoft.com/office/drawing/2014/main" id="{1F3F7D3B-C380-4074-8638-1507B0F5B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905" y="360364"/>
            <a:ext cx="8122626" cy="293687"/>
          </a:xfrm>
        </p:spPr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작업대 정보 </a:t>
            </a:r>
            <a:r>
              <a:rPr lang="en-US" altLang="ko-KR" dirty="0"/>
              <a:t>– 1F</a:t>
            </a:r>
            <a:r>
              <a:rPr lang="ko-KR" altLang="en-US" dirty="0"/>
              <a:t> </a:t>
            </a:r>
            <a:r>
              <a:rPr lang="ko-KR" altLang="en-US" dirty="0" err="1"/>
              <a:t>파렛트</a:t>
            </a:r>
            <a:r>
              <a:rPr lang="ko-KR" altLang="en-US" dirty="0"/>
              <a:t> 작업 구역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4F79B5E-7587-773C-6A46-CE7462B6B8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4442857"/>
              </p:ext>
            </p:extLst>
          </p:nvPr>
        </p:nvGraphicFramePr>
        <p:xfrm>
          <a:off x="490905" y="868815"/>
          <a:ext cx="8473583" cy="3024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458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13121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960776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1673832">
                  <a:extLst>
                    <a:ext uri="{9D8B030D-6E8A-4147-A177-3AD203B41FA5}">
                      <a16:colId xmlns:a16="http://schemas.microsoft.com/office/drawing/2014/main" val="3706295519"/>
                    </a:ext>
                  </a:extLst>
                </a:gridCol>
                <a:gridCol w="3086301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</a:tblGrid>
              <a:tr h="3812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No.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 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작업대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트랙번호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945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입고대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217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입고대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224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716175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103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Unit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출고대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206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7959235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104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Unit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출고대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212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345109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105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Unit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출고대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Group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2101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가상트랙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7478468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107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218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9539126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108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225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2657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642459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F225E-BAB1-EA1C-1D7B-1A7EBA98C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2">
            <a:extLst>
              <a:ext uri="{FF2B5EF4-FFF2-40B4-BE49-F238E27FC236}">
                <a16:creationId xmlns:a16="http://schemas.microsoft.com/office/drawing/2014/main" id="{6EBE688E-836D-518D-0BB4-1D89A3738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905" y="360364"/>
            <a:ext cx="8122626" cy="293687"/>
          </a:xfrm>
        </p:spPr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작업대 정보 </a:t>
            </a:r>
            <a:r>
              <a:rPr lang="en-US" altLang="ko-KR" dirty="0"/>
              <a:t>– 3</a:t>
            </a:r>
            <a:r>
              <a:rPr lang="ko-KR" altLang="en-US" dirty="0"/>
              <a:t>층 </a:t>
            </a:r>
            <a:r>
              <a:rPr lang="en-US" altLang="ko-KR" dirty="0"/>
              <a:t>Pallet </a:t>
            </a:r>
            <a:r>
              <a:rPr lang="ko-KR" altLang="en-US" dirty="0"/>
              <a:t>작업 구역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F2691A4-3BA7-6CDF-4066-4F85BF1C03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1361560"/>
              </p:ext>
            </p:extLst>
          </p:nvPr>
        </p:nvGraphicFramePr>
        <p:xfrm>
          <a:off x="490905" y="868814"/>
          <a:ext cx="8473583" cy="56288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458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13121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960776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1673832">
                  <a:extLst>
                    <a:ext uri="{9D8B030D-6E8A-4147-A177-3AD203B41FA5}">
                      <a16:colId xmlns:a16="http://schemas.microsoft.com/office/drawing/2014/main" val="3706295519"/>
                    </a:ext>
                  </a:extLst>
                </a:gridCol>
                <a:gridCol w="3086301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</a:tblGrid>
              <a:tr h="381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No.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 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작업대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트랙번호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200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BOX  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보충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311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900800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309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3110174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306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572424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203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#3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303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8114817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204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Group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3100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가상트랙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997226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205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312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2641744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206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304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5050586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207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Pallet Magazine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301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881810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208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#4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357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450188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209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#3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358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267287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212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#5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651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6564148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213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#6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646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3495031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214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#4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652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634923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215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#6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647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471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5687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B53F6-5B05-323D-4C60-5F9892D11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2">
            <a:extLst>
              <a:ext uri="{FF2B5EF4-FFF2-40B4-BE49-F238E27FC236}">
                <a16:creationId xmlns:a16="http://schemas.microsoft.com/office/drawing/2014/main" id="{B42E532F-15FF-98BC-27D0-4D25C9046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905" y="360364"/>
            <a:ext cx="8122626" cy="293687"/>
          </a:xfrm>
        </p:spPr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작업대 정보 </a:t>
            </a:r>
            <a:r>
              <a:rPr lang="en-US" altLang="ko-KR" dirty="0"/>
              <a:t>– 3</a:t>
            </a:r>
            <a:r>
              <a:rPr lang="ko-KR" altLang="en-US" dirty="0"/>
              <a:t>층 </a:t>
            </a:r>
            <a:r>
              <a:rPr lang="en-US" altLang="ko-KR" dirty="0"/>
              <a:t>BOX </a:t>
            </a:r>
            <a:r>
              <a:rPr lang="ko-KR" altLang="en-US" dirty="0"/>
              <a:t>작업구역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1A28268-CE21-5361-CFAE-171E5BA619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1522885"/>
              </p:ext>
            </p:extLst>
          </p:nvPr>
        </p:nvGraphicFramePr>
        <p:xfrm>
          <a:off x="490905" y="868814"/>
          <a:ext cx="8473583" cy="2967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458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13121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960776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1673832">
                  <a:extLst>
                    <a:ext uri="{9D8B030D-6E8A-4147-A177-3AD203B41FA5}">
                      <a16:colId xmlns:a16="http://schemas.microsoft.com/office/drawing/2014/main" val="3706295519"/>
                    </a:ext>
                  </a:extLst>
                </a:gridCol>
                <a:gridCol w="3086301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</a:tblGrid>
              <a:tr h="3765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No.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 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작업대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트랙번호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211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보충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입고대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407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267287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221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자동 입고 대기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419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6564148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222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자동 입고 대기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420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3495031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231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BCR 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이동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지시대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428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634923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241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BCR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이동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도착대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434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471604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242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BCR 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이동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도착대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431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3811296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251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Picking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출고대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415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5716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9360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Interface</a:t>
            </a:r>
            <a:r>
              <a:rPr lang="ko-KR" altLang="en-US" dirty="0"/>
              <a:t>관련</a:t>
            </a:r>
            <a:r>
              <a:rPr lang="en-US" altLang="ko-KR" dirty="0"/>
              <a:t> Table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707146"/>
              </p:ext>
            </p:extLst>
          </p:nvPr>
        </p:nvGraphicFramePr>
        <p:xfrm>
          <a:off x="490905" y="887669"/>
          <a:ext cx="8473583" cy="33162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51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204438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3960440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No.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Table</a:t>
                      </a:r>
                      <a:r>
                        <a:rPr lang="ko-KR" altLang="en-US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상세내역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IF_LUGG_STA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작업상태 정보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[W2E]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작업상태에 대한 데이터 정보 송수신</a:t>
                      </a:r>
                      <a:b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작업생성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(INSERT)-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정보변경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(UPDATE)-</a:t>
                      </a:r>
                      <a:r>
                        <a:rPr lang="ko-KR" altLang="en-US" sz="1100" b="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완료시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삭제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or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상태변경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=&gt;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모든 트리거 마다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IF_LUGG_STA_HIS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 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INSERT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함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!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7308252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IF_MC_STA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설비상태 수신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[E2W]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설비상태에 대한 데이터 정보 수신</a:t>
                      </a:r>
                      <a:endParaRPr lang="en-US" altLang="ko-KR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상태 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Update =&gt; UPDATE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IF_MC_STA_HIS</a:t>
                      </a:r>
                      <a:r>
                        <a:rPr lang="ko-KR" altLang="en-US" sz="1100" b="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에 </a:t>
                      </a:r>
                      <a:r>
                        <a:rPr lang="en-US" altLang="ko-KR" sz="1100" b="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INSERT</a:t>
                      </a:r>
                      <a:r>
                        <a:rPr lang="ko-KR" altLang="en-US" sz="1100" b="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함</a:t>
                      </a:r>
                      <a:r>
                        <a:rPr lang="en-US" altLang="ko-KR" sz="1100" b="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!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IF_REQ_MST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작업요청 정보</a:t>
                      </a:r>
                      <a:endParaRPr lang="en-US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[E2W]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작업을 요청하기 위한 정보 송신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요청생성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(INSERT)-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해당 작업대 작업수신시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  <a:p>
                      <a:pPr marL="171450" indent="-171450" algn="l" latinLnBrk="1">
                        <a:buFont typeface="Symbol" panose="05050102010706020507" pitchFamily="18" charset="2"/>
                        <a:buChar char="Þ"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삭제시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마다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IF_REQ_MST_HIS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INSERT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!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5436036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IF_LUGG_STA_HIS</a:t>
                      </a:r>
                      <a:endParaRPr lang="ko-KR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작업상태 히스토리</a:t>
                      </a:r>
                      <a:endParaRPr lang="en-US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인터페이스용 테이블이 아닌 자체 히스토리 테이블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2707687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IF_MC_STA_HIS</a:t>
                      </a:r>
                      <a:endParaRPr lang="ko-KR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설비상태 히스토리</a:t>
                      </a:r>
                      <a:endParaRPr lang="en-US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인터페이스용 테이블이 아닌 자체 히스토리 테이블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01905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IF_REQ_MST_HIS</a:t>
                      </a:r>
                      <a:endParaRPr lang="ko-KR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작업요청 히스토리</a:t>
                      </a:r>
                      <a:endParaRPr lang="en-US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인터페이스용 테이블이 아닌 자체 히스토리 테이블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8218749"/>
                  </a:ext>
                </a:extLst>
              </a:tr>
            </a:tbl>
          </a:graphicData>
        </a:graphic>
      </p:graphicFrame>
      <p:sp>
        <p:nvSpPr>
          <p:cNvPr id="2" name="Text Box 39">
            <a:extLst>
              <a:ext uri="{FF2B5EF4-FFF2-40B4-BE49-F238E27FC236}">
                <a16:creationId xmlns:a16="http://schemas.microsoft.com/office/drawing/2014/main" id="{0E48E73D-0EC0-3B1C-647F-1D43058260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0905" y="4437585"/>
            <a:ext cx="3524914" cy="5155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altLang="ko-KR" sz="1100" dirty="0">
                <a:latin typeface="+mj-lt"/>
                <a:ea typeface="가는각진제목체" pitchFamily="18" charset="-127"/>
              </a:rPr>
              <a:t>W2E : Warehouse(WMS)</a:t>
            </a:r>
            <a:r>
              <a:rPr lang="ko-KR" altLang="en-US" sz="1100" dirty="0">
                <a:latin typeface="+mj-lt"/>
                <a:ea typeface="가는각진제목체" pitchFamily="18" charset="-127"/>
              </a:rPr>
              <a:t> </a:t>
            </a:r>
            <a:r>
              <a:rPr lang="en-US" altLang="ko-KR" sz="1100" dirty="0">
                <a:latin typeface="+mj-lt"/>
                <a:ea typeface="가는각진제목체" pitchFamily="18" charset="-127"/>
              </a:rPr>
              <a:t>To Equipment(WCS)</a:t>
            </a:r>
          </a:p>
          <a:p>
            <a:pPr>
              <a:spcBef>
                <a:spcPct val="50000"/>
              </a:spcBef>
              <a:defRPr/>
            </a:pPr>
            <a:r>
              <a:rPr lang="en-US" altLang="ja-JP" sz="1100" dirty="0">
                <a:latin typeface="+mj-lt"/>
                <a:ea typeface="가는각진제목체" pitchFamily="18" charset="-127"/>
              </a:rPr>
              <a:t>E2W : </a:t>
            </a:r>
            <a:r>
              <a:rPr lang="en-US" altLang="ko-KR" sz="1100" dirty="0">
                <a:ea typeface="가는각진제목체" pitchFamily="18" charset="-127"/>
              </a:rPr>
              <a:t>Equipment(WCS) To Warehouse(WMS)</a:t>
            </a:r>
            <a:r>
              <a:rPr lang="ko-KR" altLang="en-US" sz="1100" dirty="0">
                <a:ea typeface="가는각진제목체" pitchFamily="18" charset="-127"/>
              </a:rPr>
              <a:t> </a:t>
            </a:r>
            <a:endParaRPr lang="en-US" altLang="ko-KR" sz="1100" dirty="0">
              <a:ea typeface="가는각진제목체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7872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6.1 IF_LUGG_STA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2848158"/>
              </p:ext>
            </p:extLst>
          </p:nvPr>
        </p:nvGraphicFramePr>
        <p:xfrm>
          <a:off x="490905" y="883562"/>
          <a:ext cx="8473583" cy="3888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0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087519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368865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526709363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3352644895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Seq.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Attribute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Data Type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Nullable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Key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err="1"/>
                        <a:t>Indx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Disc.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CRT_DATE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VARCHAR(8)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생성일자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CRT_TIME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VARCHAR(6)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생성시간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71617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LUGGNO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NUMERIC(4)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192234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JOB_KIND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NVARCHAR(7)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 구분</a:t>
                      </a:r>
                      <a:endParaRPr lang="en-US" altLang="ko-KR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(1: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2: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3:PICKING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4:RACK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5: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호기간 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6: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7411799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LD_CTN_NO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PLT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04618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FROM_CV_NO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시작작업대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8567179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TO_CV_NO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종료작업대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8001741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FROM_SC_NO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출발 크레인 호기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1028412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TO_SC_NO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도착 크레인 호기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8700008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FROM_AREA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출발 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896646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TO_AREA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도착 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59897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41216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6.1 IF_LUGG_STA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8056941"/>
              </p:ext>
            </p:extLst>
          </p:nvPr>
        </p:nvGraphicFramePr>
        <p:xfrm>
          <a:off x="490905" y="883562"/>
          <a:ext cx="8473583" cy="5803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0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09675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359628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526709363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3352644895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Seq.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Attribute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Data Type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Nullable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Key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err="1"/>
                        <a:t>Indx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Disc.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WORK_STA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NVARCHAR(7)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상태정보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01: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작업수신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02:CV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03:CV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작업중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09:CV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[SC 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]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11: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12: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19 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[SC 2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]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21: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22: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29 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90: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정상완료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91: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강제완료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(ECS),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92 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강제완료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(WMS)-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미사용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96: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(ECS)-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미사용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97: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작업삭제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(WMS)-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미사용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98: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이상처리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재지정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99: ERROR(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ST_ISHIGH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NCHAR(1)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화물 높이 구분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미사용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71617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ERRCODE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NVARCHAR(4)</a:t>
                      </a:r>
                      <a:endParaRPr lang="ko-KR" altLang="ko-KR" sz="1100" kern="10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오류코드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9725042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PRIORITY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VARCHAR(3)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우선순위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기본값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100)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697550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IF_STATUS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VARCHAR(1)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처리상태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(N: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미처리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Y: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E: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192234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UPD_DT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DATETIME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수정일시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7411799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UPD_USER_ID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 시스템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(WMS, WCS)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04618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PRDCT_NM</a:t>
                      </a:r>
                      <a:endParaRPr lang="ko-KR" altLang="ko-KR" sz="11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NVARCHAR(120)</a:t>
                      </a:r>
                      <a:endParaRPr lang="ko-KR" altLang="ko-KR" sz="11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제품이름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8567179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t>20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t>WH_TYP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t>VARCHAR(4)</a:t>
                      </a:r>
                      <a:endParaRPr lang="en-US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>N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/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t>창고구분 (원본 프로토콜 WareHouse Define) A:PalletRack, B:P-BoxRack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8001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21183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 IF_MC_STA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45805"/>
              </p:ext>
            </p:extLst>
          </p:nvPr>
        </p:nvGraphicFramePr>
        <p:xfrm>
          <a:off x="490905" y="883562"/>
          <a:ext cx="8473583" cy="39633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0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526709363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862168175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Seq.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Attribute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Data Type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Nullable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Key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err="1"/>
                        <a:t>Indx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Disc.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MC_TYP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설비구분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(SC,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CV, BCR)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5313076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MC_NO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설비번호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5357163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CV_STA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NVARCHAR(32)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작업대별 화물 유무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LUGG_NO</a:t>
                      </a:r>
                      <a:endParaRPr lang="ko-KR" altLang="ko-KR" sz="1100" b="1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NVARCHAR(4)</a:t>
                      </a:r>
                      <a:endParaRPr lang="ko-KR" altLang="ko-KR" sz="1100" b="1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작업번호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7077001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CV_IO_MODE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NVARCHAR(32)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입출고 스위치 모드 상태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미사용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716175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MC_STA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NVARCHAR(32)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입고대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입고 가능 여부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972504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SC_STA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NVARCHAR(32)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12161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MC_USE_DEF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설비사용정의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08192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ST_ISHIGH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NVARCHAR(32)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화물높이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미사용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3234463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BCR_DATA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BCR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1887196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PA_REQ_STA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작업요청여부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미사용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8255023"/>
                  </a:ext>
                </a:extLst>
              </a:tr>
              <a:tr h="1295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IF_STATUS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VARCHAR(1)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처리상태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(N: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미처리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Y: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정상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E: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에러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1379696"/>
                  </a:ext>
                </a:extLst>
              </a:tr>
              <a:tr h="1295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UPD_DT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DATETIME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수정일시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49413"/>
                  </a:ext>
                </a:extLst>
              </a:tr>
              <a:tr h="1295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WH_TYP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VARCHAR(4)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/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창고구분 (원본 프로토콜 WareHouse Define) A:PalletRack, B:P-BoxRack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494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84166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D5EB5-73FB-1B91-6E3E-3993D8763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>
            <a:extLst>
              <a:ext uri="{FF2B5EF4-FFF2-40B4-BE49-F238E27FC236}">
                <a16:creationId xmlns:a16="http://schemas.microsoft.com/office/drawing/2014/main" id="{BA36587B-8651-ACF7-8E98-A40D97F78FC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53EB3E4F-4588-99E1-41D8-E9A24DAE5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6.3 IF_REQ_MST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1BD1EE4F-8543-D260-7631-66D9BA3DA5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117113"/>
              </p:ext>
            </p:extLst>
          </p:nvPr>
        </p:nvGraphicFramePr>
        <p:xfrm>
          <a:off x="490905" y="883562"/>
          <a:ext cx="8473583" cy="37758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0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526709363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862168175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Seq.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Attribute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Data Type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Nullable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Key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err="1"/>
                        <a:t>Indx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Disc.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CRT_DATE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VARCHAR(8)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생성일자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5313076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CRT_TIME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VARCHAR(6)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생성시간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5357163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MSG_TYP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VARCHAR(1)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Message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Type</a:t>
                      </a:r>
                    </a:p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 : P-BOX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 요청</a:t>
                      </a:r>
                      <a:endParaRPr lang="en-US" altLang="ko-KR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 : </a:t>
                      </a:r>
                      <a:r>
                        <a:rPr lang="ko-KR" altLang="en-US" sz="1100" b="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공파레트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입고 요청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4804229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LUGG_NO1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NUMERIC(4)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LUGG_NO2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NUMERIC(4)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265353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JOB_KIND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NVARCHAR(7)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 구분</a:t>
                      </a:r>
                      <a:endParaRPr lang="en-US" altLang="ko-KR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(1: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2: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3:PICKING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4:RACK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5: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호기간 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6: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7077001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STN_NO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Station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716175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IF_STATUS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VARCHAR(1)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처리상태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(N: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미처리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Y: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정상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E: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에러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972504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UPD_DT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DATETIME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수정일시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12161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UPD_USER_ID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 시스템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(WMS, WCS)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08192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WH_TYP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VARCHAR(4)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/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창고구분 (원본 프로토콜 WareHouse Define) A:PalletRack, B:P-BoxRack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0819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78536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7. INTERFACE </a:t>
            </a:r>
            <a:r>
              <a:rPr lang="ko-KR" altLang="en-US" dirty="0">
                <a:solidFill>
                  <a:schemeClr val="tx1"/>
                </a:solidFill>
              </a:rPr>
              <a:t>용 </a:t>
            </a:r>
            <a:r>
              <a:rPr lang="en-US" altLang="ko-KR" dirty="0">
                <a:solidFill>
                  <a:schemeClr val="tx1"/>
                </a:solidFill>
              </a:rPr>
              <a:t>ERROR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CODE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982931"/>
              </p:ext>
            </p:extLst>
          </p:nvPr>
        </p:nvGraphicFramePr>
        <p:xfrm>
          <a:off x="490905" y="883562"/>
          <a:ext cx="8191277" cy="50827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204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98334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4248727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No.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Code(Name)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Disc.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enHostErrorNone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정상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711507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enHostErrorNoSTX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097605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enHostErrorNoETX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3379718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enHostErrorDuplicatedLuggNum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동일한 작업번호 존재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5344370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enHostErrorInvalidLuggNo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작업번호이상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755077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enHostErrorBufferFull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8553322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enHostErrorInvalidHeaderLength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0491982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enHostErrorInvalidMsgLength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306561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enHostErrorInvalidStartLocation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출발 로케이션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3490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enHostErrorInvalidDestLocation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도착 로케이션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9750266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enHostErrorDifferentScNum(R2R)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랙투랙인데 다른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번호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2634055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enHostErrorTheSameScNum(A2A)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호기간 이동인데 같은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번호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409209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enHostErrorInhibitedLoc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금지된 로케이션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496437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enHostErrorInvalidMailboxName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4104966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enHostErrorAlreadyJob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동일한 작업내용 존재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9071252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enHostErrorInvalidStartWarehouse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출발 창고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3869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8779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7. INTERFACE </a:t>
            </a:r>
            <a:r>
              <a:rPr lang="ko-KR" altLang="en-US" dirty="0">
                <a:solidFill>
                  <a:schemeClr val="tx1"/>
                </a:solidFill>
              </a:rPr>
              <a:t>용 </a:t>
            </a:r>
            <a:r>
              <a:rPr lang="en-US" altLang="ko-KR" dirty="0">
                <a:solidFill>
                  <a:schemeClr val="tx1"/>
                </a:solidFill>
              </a:rPr>
              <a:t>ERROR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CODE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5837372"/>
              </p:ext>
            </p:extLst>
          </p:nvPr>
        </p:nvGraphicFramePr>
        <p:xfrm>
          <a:off x="490905" y="883562"/>
          <a:ext cx="8191277" cy="478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204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98334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4248727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No.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Code(Name)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Disc.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enHostErrorInvalidStartStation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출발 스테이션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711507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enHostErrorInvalidDestWarehouse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도착 창고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02261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enHostErrorInvalidDestStation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도착 스테이션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9262281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enHostErrorRefusedEcsJob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03392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enHostErrorProtocolLength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7487881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enHostErrorUndefinedCommandType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작업구분이상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393671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enHostErrorSocket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322300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enHostErrorNotExistJob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작업번호가 존재하지 않음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!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906611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enHostErrorXmlParser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02372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enHostErrorXmlAttribute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3438632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enHostErrorXmlElement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136448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enHostErrorXmlValue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6045865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enHostErrorJobReport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1039601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enHostErrorInvalidContent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6735740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enHostErrorImproperHandshake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4652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5984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7. INTERFACE </a:t>
            </a:r>
            <a:r>
              <a:rPr lang="ko-KR" altLang="en-US" dirty="0">
                <a:solidFill>
                  <a:schemeClr val="tx1"/>
                </a:solidFill>
              </a:rPr>
              <a:t>용 </a:t>
            </a:r>
            <a:r>
              <a:rPr lang="en-US" altLang="ko-KR" dirty="0">
                <a:solidFill>
                  <a:schemeClr val="tx1"/>
                </a:solidFill>
              </a:rPr>
              <a:t>ERROR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CODE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5797548"/>
              </p:ext>
            </p:extLst>
          </p:nvPr>
        </p:nvGraphicFramePr>
        <p:xfrm>
          <a:off x="490905" y="883562"/>
          <a:ext cx="8191277" cy="3886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204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98334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4248727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No.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Code(Name)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Disc.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enHostErrorNoResponse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711507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enHostErrorReservedJobByStartStaion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해당 출발지에 예약된 작업 존재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91638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enHostErrorInvokeReLocation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재지정 처리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7976765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enHostErrorJobAddFail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작업추가 실패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105787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enHostErrorJobModifyFail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작업수정 실패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2342898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enHostErrorJobDeleteFail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작업삭제 실패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017208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enHostErrorBcrStatusUpdateFail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BCR</a:t>
                      </a:r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상태 업데이트 변경 실패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994995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enHostErrorStoreObstacle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입고장애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더블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7010425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enHostErrorRetrieveObstacle</a:t>
                      </a:r>
                      <a:endParaRPr lang="en-US" altLang="ko-KR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출고장애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더블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9694777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enHostErrorDuplicatedLocation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이중입고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2373398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enHostErrorEmptyRetrieve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공출고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7412079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enHostErrorInternal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내부이상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8475533"/>
                  </a:ext>
                </a:extLst>
              </a:tr>
            </a:tbl>
          </a:graphicData>
        </a:graphic>
      </p:graphicFrame>
      <p:sp>
        <p:nvSpPr>
          <p:cNvPr id="2" name="Text Box 39">
            <a:extLst>
              <a:ext uri="{FF2B5EF4-FFF2-40B4-BE49-F238E27FC236}">
                <a16:creationId xmlns:a16="http://schemas.microsoft.com/office/drawing/2014/main" id="{4A84CD35-B6CB-4E4F-16EA-BA296BA77E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0905" y="4845989"/>
            <a:ext cx="308451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altLang="ko-KR" sz="1400" b="1" dirty="0">
                <a:latin typeface="+mj-lt"/>
                <a:ea typeface="가는각진제목체" pitchFamily="18" charset="-127"/>
              </a:rPr>
              <a:t>• </a:t>
            </a:r>
            <a:r>
              <a:rPr lang="ko-KR" altLang="en-US" sz="1400" b="1" dirty="0">
                <a:latin typeface="+mj-lt"/>
                <a:ea typeface="가는각진제목체" pitchFamily="18" charset="-127"/>
              </a:rPr>
              <a:t>추후 필요시 추가 및 수정 요망</a:t>
            </a:r>
            <a:endParaRPr lang="en-US" altLang="ja-JP" sz="1400" b="1" dirty="0">
              <a:latin typeface="+mj-lt"/>
              <a:ea typeface="가는각진제목체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1337757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두산(CI수정본)">
  <a:themeElements>
    <a:clrScheme name="PPT template_internal 16">
      <a:dk1>
        <a:srgbClr val="000000"/>
      </a:dk1>
      <a:lt1>
        <a:srgbClr val="FFFFFF"/>
      </a:lt1>
      <a:dk2>
        <a:srgbClr val="000000"/>
      </a:dk2>
      <a:lt2>
        <a:srgbClr val="000000"/>
      </a:lt2>
      <a:accent1>
        <a:srgbClr val="FFFFFF"/>
      </a:accent1>
      <a:accent2>
        <a:srgbClr val="5F5F5F"/>
      </a:accent2>
      <a:accent3>
        <a:srgbClr val="FFFFFF"/>
      </a:accent3>
      <a:accent4>
        <a:srgbClr val="000000"/>
      </a:accent4>
      <a:accent5>
        <a:srgbClr val="FFFFFF"/>
      </a:accent5>
      <a:accent6>
        <a:srgbClr val="555555"/>
      </a:accent6>
      <a:hlink>
        <a:srgbClr val="B2B2B2"/>
      </a:hlink>
      <a:folHlink>
        <a:srgbClr val="B2B2B2"/>
      </a:folHlink>
    </a:clrScheme>
    <a:fontScheme name="PPT template_internal">
      <a:majorFont>
        <a:latin typeface="Arial"/>
        <a:ea typeface="윤고딕130"/>
        <a:cs typeface=""/>
      </a:majorFont>
      <a:minorFont>
        <a:latin typeface="Arial"/>
        <a:ea typeface="윤고딕130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0" tIns="0" rIns="0" bIns="0" numCol="1" anchor="t" anchorCtr="0" compatLnSpc="1">
        <a:prstTxWarp prst="textNoShape">
          <a:avLst/>
        </a:prstTxWarp>
        <a:spAutoFit/>
      </a:bodyPr>
      <a:lstStyle>
        <a:defPPr marL="84138" marR="0" indent="-84138" algn="l" defTabSz="914400" rtl="0" eaLnBrk="0" fontAlgn="base" latinLnBrk="0" hangingPunct="0">
          <a:lnSpc>
            <a:spcPct val="8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윤고딕130" pitchFamily="18" charset="-127"/>
            <a:ea typeface="윤고딕130" pitchFamily="18" charset="-127"/>
          </a:defRPr>
        </a:defPPr>
      </a:lstStyle>
    </a:spDef>
    <a:lnDef>
      <a:spPr bwMode="auto">
        <a:noFill/>
        <a:ln w="9525">
          <a:solidFill>
            <a:schemeClr val="tx1"/>
          </a:solidFill>
          <a:miter lim="800000"/>
          <a:headEnd/>
          <a:tailEnd type="triangle" w="med" len="med"/>
        </a:ln>
        <a:extLst>
          <a:ext uri="{909E8E84-426E-40DD-AFC4-6F175D3DCCD1}">
            <a14:hiddenFill xmlns:a14="http://schemas.microsoft.com/office/drawing/2010/main">
              <a:noFill/>
            </a14:hiddenFill>
          </a:ext>
        </a:extLst>
      </a:spPr>
      <a:bodyPr/>
      <a:lstStyle/>
    </a:lnDef>
  </a:objectDefaults>
  <a:extraClrSchemeLst>
    <a:extraClrScheme>
      <a:clrScheme name="PPT template_internal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13">
        <a:dk1>
          <a:srgbClr val="333333"/>
        </a:dk1>
        <a:lt1>
          <a:srgbClr val="FFFFFF"/>
        </a:lt1>
        <a:dk2>
          <a:srgbClr val="000000"/>
        </a:dk2>
        <a:lt2>
          <a:srgbClr val="808080"/>
        </a:lt2>
        <a:accent1>
          <a:srgbClr val="103991"/>
        </a:accent1>
        <a:accent2>
          <a:srgbClr val="333399"/>
        </a:accent2>
        <a:accent3>
          <a:srgbClr val="FFFFFF"/>
        </a:accent3>
        <a:accent4>
          <a:srgbClr val="2A2A2A"/>
        </a:accent4>
        <a:accent5>
          <a:srgbClr val="AAAEC7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14">
        <a:dk1>
          <a:srgbClr val="333333"/>
        </a:dk1>
        <a:lt1>
          <a:srgbClr val="FFFFFF"/>
        </a:lt1>
        <a:dk2>
          <a:srgbClr val="000000"/>
        </a:dk2>
        <a:lt2>
          <a:srgbClr val="808080"/>
        </a:lt2>
        <a:accent1>
          <a:srgbClr val="F7EDD4"/>
        </a:accent1>
        <a:accent2>
          <a:srgbClr val="103991"/>
        </a:accent2>
        <a:accent3>
          <a:srgbClr val="FFFFFF"/>
        </a:accent3>
        <a:accent4>
          <a:srgbClr val="2A2A2A"/>
        </a:accent4>
        <a:accent5>
          <a:srgbClr val="FAF4E6"/>
        </a:accent5>
        <a:accent6>
          <a:srgbClr val="0D3383"/>
        </a:accent6>
        <a:hlink>
          <a:srgbClr val="0083CD"/>
        </a:hlink>
        <a:folHlink>
          <a:srgbClr val="00987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15">
        <a:dk1>
          <a:srgbClr val="000000"/>
        </a:dk1>
        <a:lt1>
          <a:srgbClr val="FFFFFF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5F5F5F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555555"/>
        </a:accent6>
        <a:hlink>
          <a:srgbClr val="0083CD"/>
        </a:hlink>
        <a:folHlink>
          <a:srgbClr val="00987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16">
        <a:dk1>
          <a:srgbClr val="000000"/>
        </a:dk1>
        <a:lt1>
          <a:srgbClr val="FFFFFF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5F5F5F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555555"/>
        </a:accent6>
        <a:hlink>
          <a:srgbClr val="B2B2B2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DEF7DDDC173814084D21317B6D6BF9D" ma:contentTypeVersion="4" ma:contentTypeDescription="Create a new document." ma:contentTypeScope="" ma:versionID="03f95f71165b1023e32c2dc825353f1f">
  <xsd:schema xmlns:xsd="http://www.w3.org/2001/XMLSchema" xmlns:xs="http://www.w3.org/2001/XMLSchema" xmlns:p="http://schemas.microsoft.com/office/2006/metadata/properties" xmlns:ns2="73dd6756-133a-4b6a-a18f-1f696c67f8c7" xmlns:ns3="6788184d-9e12-45ea-b9bc-af586e5bb70f" targetNamespace="http://schemas.microsoft.com/office/2006/metadata/properties" ma:root="true" ma:fieldsID="daa70b8e984d6ab728da307c08eec447" ns2:_="" ns3:_="">
    <xsd:import namespace="73dd6756-133a-4b6a-a18f-1f696c67f8c7"/>
    <xsd:import namespace="6788184d-9e12-45ea-b9bc-af586e5bb70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dd6756-133a-4b6a-a18f-1f696c67f8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788184d-9e12-45ea-b9bc-af586e5bb70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F3E248B-DDD8-4B07-8420-731A2D12BBB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3D1E44C-29D6-4558-9867-B3596837DD45}">
  <ds:schemaRefs>
    <ds:schemaRef ds:uri="6788184d-9e12-45ea-b9bc-af586e5bb70f"/>
    <ds:schemaRef ds:uri="73dd6756-133a-4b6a-a18f-1f696c67f8c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9E6FD0E-C0DF-4477-94D6-19E2C833C338}">
  <ds:schemaRefs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73dd6756-133a-4b6a-a18f-1f696c67f8c7"/>
    <ds:schemaRef ds:uri="http://schemas.microsoft.com/office/infopath/2007/PartnerControls"/>
    <ds:schemaRef ds:uri="http://purl.org/dc/terms/"/>
    <ds:schemaRef ds:uri="6788184d-9e12-45ea-b9bc-af586e5bb70f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두산(CI수정본)</Template>
  <TotalTime>15327</TotalTime>
  <Words>2616</Words>
  <Application>Microsoft Office PowerPoint</Application>
  <PresentationFormat>화면 슬라이드 쇼(4:3)</PresentationFormat>
  <Paragraphs>1051</Paragraphs>
  <Slides>22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8" baseType="lpstr">
      <vt:lpstr>HY태명조</vt:lpstr>
      <vt:lpstr>Noto Sans CJK KR Bold</vt:lpstr>
      <vt:lpstr>Noto Sans CJK KR Regular</vt:lpstr>
      <vt:lpstr>가는각진제목체</vt:lpstr>
      <vt:lpstr>굴림</vt:lpstr>
      <vt:lpstr>나눔바른고딕</vt:lpstr>
      <vt:lpstr>맑은 고딕</vt:lpstr>
      <vt:lpstr>맑은 고딕 (본문)</vt:lpstr>
      <vt:lpstr>윤고딕130</vt:lpstr>
      <vt:lpstr>휴먼각진헤드라인</vt:lpstr>
      <vt:lpstr>Arial</vt:lpstr>
      <vt:lpstr>Symbol</vt:lpstr>
      <vt:lpstr>Times New Roman</vt:lpstr>
      <vt:lpstr>Wingdings</vt:lpstr>
      <vt:lpstr>두산(CI수정본)</vt:lpstr>
      <vt:lpstr>think-cell Slide</vt:lpstr>
      <vt:lpstr>한국단자 인터페이스 정의서</vt:lpstr>
      <vt:lpstr>▪개정 이력</vt:lpstr>
      <vt:lpstr>▪ 목차</vt:lpstr>
      <vt:lpstr>1. Interface System</vt:lpstr>
      <vt:lpstr>2. Interface 구조</vt:lpstr>
      <vt:lpstr>3. 인터페이스 항목</vt:lpstr>
      <vt:lpstr>4. Interface 흐름도 (설비 상태) - 작업대</vt:lpstr>
      <vt:lpstr>4. Interface 흐름도 (작업 지시)</vt:lpstr>
      <vt:lpstr>4. Interface 흐름도 (작업 지시)</vt:lpstr>
      <vt:lpstr>4. Interface 흐름도 (작업 완료)</vt:lpstr>
      <vt:lpstr>4. Interface 흐름도 (설비에러 – 이중입고, 공출고)</vt:lpstr>
      <vt:lpstr>5. 작업대 정보 – 1F 파렛트 작업 구역</vt:lpstr>
      <vt:lpstr>5. 작업대 정보 – 3층 Pallet 작업 구역</vt:lpstr>
      <vt:lpstr>5. 작업대 정보 – 3층 BOX 작업구역</vt:lpstr>
      <vt:lpstr>6. Interface관련 Table</vt:lpstr>
      <vt:lpstr>6.1 IF_LUGG_STA</vt:lpstr>
      <vt:lpstr>6.1 IF_LUGG_STA</vt:lpstr>
      <vt:lpstr>6.2 IF_MC_STA</vt:lpstr>
      <vt:lpstr>6.3 IF_REQ_MST</vt:lpstr>
      <vt:lpstr>7. INTERFACE 용 ERROR CODE</vt:lpstr>
      <vt:lpstr>7. INTERFACE 용 ERROR CODE</vt:lpstr>
      <vt:lpstr>7. INTERFACE 용 ERROR 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FCK 익산공장 노무관리 전략</dc:title>
  <dc:creator>정태안(Taean Jung) 과장 (주)두산 퓨얼셀</dc:creator>
  <cp:lastModifiedBy>정복열(Bok-yeol Jung) 수석 두산로지스틱스솔루션</cp:lastModifiedBy>
  <cp:revision>58</cp:revision>
  <cp:lastPrinted>2026-07-20T00:04:01Z</cp:lastPrinted>
  <dcterms:created xsi:type="dcterms:W3CDTF">2016-08-23T02:39:20Z</dcterms:created>
  <dcterms:modified xsi:type="dcterms:W3CDTF">2026-07-20T22:32:40Z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0x0101007DEF7DDDC173814084D21317B6D6BF9D</vt:lpwstr>
  </property>
</Properties>
</file>